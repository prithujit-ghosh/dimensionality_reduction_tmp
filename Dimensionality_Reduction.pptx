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7" r:id="rId1"/>
  </p:sldMasterIdLst>
  <p:sldIdLst>
    <p:sldId id="256" r:id="rId2"/>
    <p:sldId id="257" r:id="rId3"/>
    <p:sldId id="270" r:id="rId4"/>
    <p:sldId id="272" r:id="rId5"/>
    <p:sldId id="273" r:id="rId6"/>
    <p:sldId id="274" r:id="rId7"/>
    <p:sldId id="276" r:id="rId8"/>
    <p:sldId id="275" r:id="rId9"/>
    <p:sldId id="277" r:id="rId10"/>
    <p:sldId id="258" r:id="rId11"/>
    <p:sldId id="259" r:id="rId12"/>
    <p:sldId id="261" r:id="rId13"/>
    <p:sldId id="262" r:id="rId14"/>
    <p:sldId id="263" r:id="rId15"/>
    <p:sldId id="260" r:id="rId16"/>
    <p:sldId id="268" r:id="rId17"/>
    <p:sldId id="264" r:id="rId18"/>
    <p:sldId id="266" r:id="rId19"/>
    <p:sldId id="265" r:id="rId20"/>
    <p:sldId id="271" r:id="rId21"/>
    <p:sldId id="267" r:id="rId22"/>
    <p:sldId id="26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311F72-B145-4E4E-B900-C6A0690AC541}" v="66" dt="2026-04-02T15:46:12.0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53"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FF8237-04AA-4F5A-9320-ABD7364CC339}" type="doc">
      <dgm:prSet loTypeId="urn:microsoft.com/office/officeart/2005/8/layout/process5" loCatId="process" qsTypeId="urn:microsoft.com/office/officeart/2005/8/quickstyle/simple1" qsCatId="simple" csTypeId="urn:microsoft.com/office/officeart/2005/8/colors/colorful2" csCatId="colorful" phldr="1"/>
      <dgm:spPr/>
      <dgm:t>
        <a:bodyPr/>
        <a:lstStyle/>
        <a:p>
          <a:endParaRPr lang="en-IN"/>
        </a:p>
      </dgm:t>
    </dgm:pt>
    <dgm:pt modelId="{83FBAAB2-019A-4F1E-890B-7D422E5D8FC0}">
      <dgm:prSet phldrT="[Text]" phldr="0" custT="1"/>
      <dgm:spPr/>
      <dgm:t>
        <a:bodyPr/>
        <a:lstStyle/>
        <a:p>
          <a:r>
            <a:rPr lang="en-US" sz="1400" noProof="0" dirty="0"/>
            <a:t>Overview</a:t>
          </a:r>
          <a:endParaRPr lang="en-IN" sz="1400" noProof="0" dirty="0"/>
        </a:p>
      </dgm:t>
    </dgm:pt>
    <dgm:pt modelId="{D4574962-4C29-4AF4-B036-0C49B26924F6}" type="parTrans" cxnId="{9880DED1-3B56-4E46-8B98-A530A48111F7}">
      <dgm:prSet/>
      <dgm:spPr/>
      <dgm:t>
        <a:bodyPr/>
        <a:lstStyle/>
        <a:p>
          <a:endParaRPr lang="en-IN"/>
        </a:p>
      </dgm:t>
    </dgm:pt>
    <dgm:pt modelId="{EFD191B3-3570-4835-99CA-5F1A04DCA5B9}" type="sibTrans" cxnId="{9880DED1-3B56-4E46-8B98-A530A48111F7}">
      <dgm:prSet/>
      <dgm:spPr/>
      <dgm:t>
        <a:bodyPr/>
        <a:lstStyle/>
        <a:p>
          <a:endParaRPr lang="en-IN"/>
        </a:p>
      </dgm:t>
    </dgm:pt>
    <dgm:pt modelId="{D8BE5EF1-4095-45BF-9816-79859EC4BF5E}">
      <dgm:prSet phldrT="[Text]" phldr="0" custT="1"/>
      <dgm:spPr/>
      <dgm:t>
        <a:bodyPr/>
        <a:lstStyle/>
        <a:p>
          <a:r>
            <a:rPr lang="en-IN" sz="1200" noProof="0" dirty="0"/>
            <a:t>Key Findings from t-SNE Implementation</a:t>
          </a:r>
        </a:p>
      </dgm:t>
    </dgm:pt>
    <dgm:pt modelId="{77CB3C1B-A87E-4299-AECB-9363FC8F3792}" type="parTrans" cxnId="{D29749AA-2FA2-493B-9652-385C3934B72B}">
      <dgm:prSet/>
      <dgm:spPr/>
      <dgm:t>
        <a:bodyPr/>
        <a:lstStyle/>
        <a:p>
          <a:endParaRPr lang="en-IN"/>
        </a:p>
      </dgm:t>
    </dgm:pt>
    <dgm:pt modelId="{221C679C-C8A3-4373-8632-768BF57B1300}" type="sibTrans" cxnId="{D29749AA-2FA2-493B-9652-385C3934B72B}">
      <dgm:prSet/>
      <dgm:spPr/>
      <dgm:t>
        <a:bodyPr/>
        <a:lstStyle/>
        <a:p>
          <a:endParaRPr lang="en-IN"/>
        </a:p>
      </dgm:t>
    </dgm:pt>
    <dgm:pt modelId="{0058B02A-F2A8-4D73-8063-5EA322DE28BF}">
      <dgm:prSet phldrT="[Text]" phldr="0" custT="1"/>
      <dgm:spPr/>
      <dgm:t>
        <a:bodyPr/>
        <a:lstStyle/>
        <a:p>
          <a:r>
            <a:rPr lang="en-IN" sz="1400" b="0" noProof="0" dirty="0"/>
            <a:t>Comparative Analysis: PCA vs. t-SNE</a:t>
          </a:r>
        </a:p>
      </dgm:t>
    </dgm:pt>
    <dgm:pt modelId="{FADA9CE7-7915-4CB1-8B80-CD2AD06A8C94}" type="parTrans" cxnId="{328EE5DE-B00B-43DA-BE0B-BB467BE1C07C}">
      <dgm:prSet/>
      <dgm:spPr/>
      <dgm:t>
        <a:bodyPr/>
        <a:lstStyle/>
        <a:p>
          <a:endParaRPr lang="en-IN"/>
        </a:p>
      </dgm:t>
    </dgm:pt>
    <dgm:pt modelId="{1512CF07-752A-40DC-8C8F-0BDDEC9999E0}" type="sibTrans" cxnId="{328EE5DE-B00B-43DA-BE0B-BB467BE1C07C}">
      <dgm:prSet/>
      <dgm:spPr/>
      <dgm:t>
        <a:bodyPr/>
        <a:lstStyle/>
        <a:p>
          <a:endParaRPr lang="en-IN"/>
        </a:p>
      </dgm:t>
    </dgm:pt>
    <dgm:pt modelId="{B9AC66C2-63DF-4CE8-9F06-DF207989E866}">
      <dgm:prSet phldrT="[Text]" phldr="0" custT="1"/>
      <dgm:spPr/>
      <dgm:t>
        <a:bodyPr/>
        <a:lstStyle/>
        <a:p>
          <a:r>
            <a:rPr lang="en-IN" sz="1500" b="0" noProof="0"/>
            <a:t>Actionable Insights</a:t>
          </a:r>
          <a:endParaRPr lang="en-IN" sz="1500" b="0" noProof="0" dirty="0"/>
        </a:p>
      </dgm:t>
    </dgm:pt>
    <dgm:pt modelId="{E6BE7B56-E958-439B-8450-12820915F246}" type="parTrans" cxnId="{F4E0F5A5-9ECE-4D11-BD7E-DCFDFE9A2757}">
      <dgm:prSet/>
      <dgm:spPr/>
      <dgm:t>
        <a:bodyPr/>
        <a:lstStyle/>
        <a:p>
          <a:endParaRPr lang="en-IN"/>
        </a:p>
      </dgm:t>
    </dgm:pt>
    <dgm:pt modelId="{8BED7ED4-031C-478F-892A-410B03798A1D}" type="sibTrans" cxnId="{F4E0F5A5-9ECE-4D11-BD7E-DCFDFE9A2757}">
      <dgm:prSet/>
      <dgm:spPr/>
      <dgm:t>
        <a:bodyPr/>
        <a:lstStyle/>
        <a:p>
          <a:endParaRPr lang="en-IN"/>
        </a:p>
      </dgm:t>
    </dgm:pt>
    <dgm:pt modelId="{21156379-CB33-47E1-8BD6-39B88E7D9726}">
      <dgm:prSet phldrT="[Text]" phldr="0" custT="1"/>
      <dgm:spPr/>
      <dgm:t>
        <a:bodyPr/>
        <a:lstStyle/>
        <a:p>
          <a:r>
            <a:rPr lang="en-IN" sz="1200" noProof="0" dirty="0"/>
            <a:t>Key Findings from PCA Implementation</a:t>
          </a:r>
        </a:p>
      </dgm:t>
    </dgm:pt>
    <dgm:pt modelId="{88E5FDAB-A1A9-424E-A108-E39939B9A80B}" type="parTrans" cxnId="{0313F074-411A-43AA-9246-CC818650BE76}">
      <dgm:prSet/>
      <dgm:spPr/>
      <dgm:t>
        <a:bodyPr/>
        <a:lstStyle/>
        <a:p>
          <a:endParaRPr lang="en-IN"/>
        </a:p>
      </dgm:t>
    </dgm:pt>
    <dgm:pt modelId="{0C6ABCDD-F89F-44BB-A77A-162EEAB01388}" type="sibTrans" cxnId="{0313F074-411A-43AA-9246-CC818650BE76}">
      <dgm:prSet/>
      <dgm:spPr/>
      <dgm:t>
        <a:bodyPr/>
        <a:lstStyle/>
        <a:p>
          <a:endParaRPr lang="en-IN"/>
        </a:p>
      </dgm:t>
    </dgm:pt>
    <dgm:pt modelId="{C01AA87B-385D-4333-B0F1-000CD07A2965}">
      <dgm:prSet phldrT="[Text]" phldr="0" custT="1"/>
      <dgm:spPr/>
      <dgm:t>
        <a:bodyPr/>
        <a:lstStyle/>
        <a:p>
          <a:r>
            <a:rPr lang="en-US" sz="1400" noProof="0" dirty="0"/>
            <a:t>Introduction to Dataset</a:t>
          </a:r>
          <a:endParaRPr lang="en-IN" sz="1400" noProof="0" dirty="0"/>
        </a:p>
      </dgm:t>
    </dgm:pt>
    <dgm:pt modelId="{EDC25ED3-D017-439C-8A47-CE325B85F297}" type="parTrans" cxnId="{5ED2903B-2228-44D2-AA59-07D56DFA0D6D}">
      <dgm:prSet/>
      <dgm:spPr/>
      <dgm:t>
        <a:bodyPr/>
        <a:lstStyle/>
        <a:p>
          <a:endParaRPr lang="en-IN"/>
        </a:p>
      </dgm:t>
    </dgm:pt>
    <dgm:pt modelId="{355C0DB2-2DAB-4AD4-8711-83E899B99824}" type="sibTrans" cxnId="{5ED2903B-2228-44D2-AA59-07D56DFA0D6D}">
      <dgm:prSet/>
      <dgm:spPr/>
      <dgm:t>
        <a:bodyPr/>
        <a:lstStyle/>
        <a:p>
          <a:endParaRPr lang="en-IN"/>
        </a:p>
      </dgm:t>
    </dgm:pt>
    <dgm:pt modelId="{C8F18724-EEA5-4157-A56C-75A0854EF9CA}">
      <dgm:prSet phldrT="[Text]" phldr="0" custT="1"/>
      <dgm:spPr/>
      <dgm:t>
        <a:bodyPr/>
        <a:lstStyle/>
        <a:p>
          <a:r>
            <a:rPr lang="en-US" sz="1400" dirty="0"/>
            <a:t>Data Cleaning &amp; Preprocessing</a:t>
          </a:r>
          <a:endParaRPr lang="en-IN" sz="1400" noProof="0" dirty="0"/>
        </a:p>
      </dgm:t>
    </dgm:pt>
    <dgm:pt modelId="{6E410A09-CAA7-4C96-8491-D40C46BBF02F}" type="parTrans" cxnId="{4E258811-9627-46A9-A8DB-2E90F1D99742}">
      <dgm:prSet/>
      <dgm:spPr/>
      <dgm:t>
        <a:bodyPr/>
        <a:lstStyle/>
        <a:p>
          <a:endParaRPr lang="en-IN"/>
        </a:p>
      </dgm:t>
    </dgm:pt>
    <dgm:pt modelId="{4228BAB8-9E29-4DA1-AA28-54C12B7EBDB1}" type="sibTrans" cxnId="{4E258811-9627-46A9-A8DB-2E90F1D99742}">
      <dgm:prSet/>
      <dgm:spPr/>
      <dgm:t>
        <a:bodyPr/>
        <a:lstStyle/>
        <a:p>
          <a:endParaRPr lang="en-IN"/>
        </a:p>
      </dgm:t>
    </dgm:pt>
    <dgm:pt modelId="{D2BAD7A1-9502-4A68-8A0C-C9254362C0DA}">
      <dgm:prSet phldrT="[Text]" phldr="0" custT="1"/>
      <dgm:spPr/>
      <dgm:t>
        <a:bodyPr/>
        <a:lstStyle/>
        <a:p>
          <a:r>
            <a:rPr lang="en-US" sz="1400" noProof="0" dirty="0"/>
            <a:t>Exploratory Data Analysis</a:t>
          </a:r>
          <a:endParaRPr lang="en-IN" sz="1400" noProof="0" dirty="0"/>
        </a:p>
      </dgm:t>
    </dgm:pt>
    <dgm:pt modelId="{876C1D36-5E2D-4C07-8811-4A783AE6F81E}" type="parTrans" cxnId="{9E354D03-5D9F-4A5D-8CBB-D6B70CBFBCB2}">
      <dgm:prSet/>
      <dgm:spPr/>
      <dgm:t>
        <a:bodyPr/>
        <a:lstStyle/>
        <a:p>
          <a:endParaRPr lang="en-IN"/>
        </a:p>
      </dgm:t>
    </dgm:pt>
    <dgm:pt modelId="{5FC52B23-FCCA-4ED4-846B-D753E6597020}" type="sibTrans" cxnId="{9E354D03-5D9F-4A5D-8CBB-D6B70CBFBCB2}">
      <dgm:prSet/>
      <dgm:spPr/>
      <dgm:t>
        <a:bodyPr/>
        <a:lstStyle/>
        <a:p>
          <a:endParaRPr lang="en-IN"/>
        </a:p>
      </dgm:t>
    </dgm:pt>
    <dgm:pt modelId="{3D08DF5C-D56F-4D92-BAA3-78221AB28E13}" type="pres">
      <dgm:prSet presAssocID="{EBFF8237-04AA-4F5A-9320-ABD7364CC339}" presName="diagram" presStyleCnt="0">
        <dgm:presLayoutVars>
          <dgm:dir/>
          <dgm:resizeHandles val="exact"/>
        </dgm:presLayoutVars>
      </dgm:prSet>
      <dgm:spPr/>
    </dgm:pt>
    <dgm:pt modelId="{E08A0808-D392-4CF1-A756-609F6E81BC98}" type="pres">
      <dgm:prSet presAssocID="{83FBAAB2-019A-4F1E-890B-7D422E5D8FC0}" presName="node" presStyleLbl="node1" presStyleIdx="0" presStyleCnt="8" custLinFactNeighborX="-56752" custLinFactNeighborY="3261">
        <dgm:presLayoutVars>
          <dgm:bulletEnabled val="1"/>
        </dgm:presLayoutVars>
      </dgm:prSet>
      <dgm:spPr/>
    </dgm:pt>
    <dgm:pt modelId="{8FE53004-F59F-45B2-8527-C18E4D22435A}" type="pres">
      <dgm:prSet presAssocID="{EFD191B3-3570-4835-99CA-5F1A04DCA5B9}" presName="sibTrans" presStyleLbl="sibTrans2D1" presStyleIdx="0" presStyleCnt="7"/>
      <dgm:spPr/>
    </dgm:pt>
    <dgm:pt modelId="{DD81B867-0535-4CB9-9685-8F2E8DD2BE9E}" type="pres">
      <dgm:prSet presAssocID="{EFD191B3-3570-4835-99CA-5F1A04DCA5B9}" presName="connectorText" presStyleLbl="sibTrans2D1" presStyleIdx="0" presStyleCnt="7"/>
      <dgm:spPr/>
    </dgm:pt>
    <dgm:pt modelId="{B8158603-AC1D-4904-B0A7-6FF69F6D9EAD}" type="pres">
      <dgm:prSet presAssocID="{C01AA87B-385D-4333-B0F1-000CD07A2965}" presName="node" presStyleLbl="node1" presStyleIdx="1" presStyleCnt="8">
        <dgm:presLayoutVars>
          <dgm:bulletEnabled val="1"/>
        </dgm:presLayoutVars>
      </dgm:prSet>
      <dgm:spPr/>
    </dgm:pt>
    <dgm:pt modelId="{042A1DD5-02D0-4BC4-A0DE-A38C319DEE02}" type="pres">
      <dgm:prSet presAssocID="{355C0DB2-2DAB-4AD4-8711-83E899B99824}" presName="sibTrans" presStyleLbl="sibTrans2D1" presStyleIdx="1" presStyleCnt="7"/>
      <dgm:spPr/>
    </dgm:pt>
    <dgm:pt modelId="{94CD4563-27A0-4175-813E-9B7E2F3AE3A3}" type="pres">
      <dgm:prSet presAssocID="{355C0DB2-2DAB-4AD4-8711-83E899B99824}" presName="connectorText" presStyleLbl="sibTrans2D1" presStyleIdx="1" presStyleCnt="7"/>
      <dgm:spPr/>
    </dgm:pt>
    <dgm:pt modelId="{D7C9A867-61F4-4D54-87D1-865E49B69790}" type="pres">
      <dgm:prSet presAssocID="{C8F18724-EEA5-4157-A56C-75A0854EF9CA}" presName="node" presStyleLbl="node1" presStyleIdx="2" presStyleCnt="8" custAng="0" custLinFactNeighborX="60673" custLinFactNeighborY="2446">
        <dgm:presLayoutVars>
          <dgm:bulletEnabled val="1"/>
        </dgm:presLayoutVars>
      </dgm:prSet>
      <dgm:spPr/>
    </dgm:pt>
    <dgm:pt modelId="{2EC03E6C-EC3D-4CC3-A6D2-FDD8BECB1304}" type="pres">
      <dgm:prSet presAssocID="{4228BAB8-9E29-4DA1-AA28-54C12B7EBDB1}" presName="sibTrans" presStyleLbl="sibTrans2D1" presStyleIdx="2" presStyleCnt="7"/>
      <dgm:spPr/>
    </dgm:pt>
    <dgm:pt modelId="{FA87BD66-456A-470C-857E-2B2780289EE9}" type="pres">
      <dgm:prSet presAssocID="{4228BAB8-9E29-4DA1-AA28-54C12B7EBDB1}" presName="connectorText" presStyleLbl="sibTrans2D1" presStyleIdx="2" presStyleCnt="7"/>
      <dgm:spPr/>
    </dgm:pt>
    <dgm:pt modelId="{4C18B528-58C4-4B78-B324-6CEE7B0DA7BA}" type="pres">
      <dgm:prSet presAssocID="{D2BAD7A1-9502-4A68-8A0C-C9254362C0DA}" presName="node" presStyleLbl="node1" presStyleIdx="3" presStyleCnt="8" custLinFactNeighborX="83659" custLinFactNeighborY="5750">
        <dgm:presLayoutVars>
          <dgm:bulletEnabled val="1"/>
        </dgm:presLayoutVars>
      </dgm:prSet>
      <dgm:spPr/>
    </dgm:pt>
    <dgm:pt modelId="{94620DDB-C39B-4866-86B5-322039E1EDF7}" type="pres">
      <dgm:prSet presAssocID="{5FC52B23-FCCA-4ED4-846B-D753E6597020}" presName="sibTrans" presStyleLbl="sibTrans2D1" presStyleIdx="3" presStyleCnt="7"/>
      <dgm:spPr/>
    </dgm:pt>
    <dgm:pt modelId="{47C79EF8-4184-48AD-9AD8-09F07A15A4C3}" type="pres">
      <dgm:prSet presAssocID="{5FC52B23-FCCA-4ED4-846B-D753E6597020}" presName="connectorText" presStyleLbl="sibTrans2D1" presStyleIdx="3" presStyleCnt="7"/>
      <dgm:spPr/>
    </dgm:pt>
    <dgm:pt modelId="{4931A343-0261-4B0C-A9B3-0F4D4147CFB5}" type="pres">
      <dgm:prSet presAssocID="{21156379-CB33-47E1-8BD6-39B88E7D9726}" presName="node" presStyleLbl="node1" presStyleIdx="4" presStyleCnt="8" custLinFactNeighborX="0" custLinFactNeighborY="7381">
        <dgm:presLayoutVars>
          <dgm:bulletEnabled val="1"/>
        </dgm:presLayoutVars>
      </dgm:prSet>
      <dgm:spPr/>
    </dgm:pt>
    <dgm:pt modelId="{F40C45BD-36CC-49FB-B395-07B69EA1BE30}" type="pres">
      <dgm:prSet presAssocID="{0C6ABCDD-F89F-44BB-A77A-162EEAB01388}" presName="sibTrans" presStyleLbl="sibTrans2D1" presStyleIdx="4" presStyleCnt="7"/>
      <dgm:spPr/>
    </dgm:pt>
    <dgm:pt modelId="{49316B20-E465-4BCC-835E-BD7A31634949}" type="pres">
      <dgm:prSet presAssocID="{0C6ABCDD-F89F-44BB-A77A-162EEAB01388}" presName="connectorText" presStyleLbl="sibTrans2D1" presStyleIdx="4" presStyleCnt="7"/>
      <dgm:spPr/>
    </dgm:pt>
    <dgm:pt modelId="{8A9D7FA7-2EC2-4F96-9686-488D4FE4FD03}" type="pres">
      <dgm:prSet presAssocID="{D8BE5EF1-4095-45BF-9816-79859EC4BF5E}" presName="node" presStyleLbl="node1" presStyleIdx="5" presStyleCnt="8" custLinFactNeighborX="-57240" custLinFactNeighborY="7381">
        <dgm:presLayoutVars>
          <dgm:bulletEnabled val="1"/>
        </dgm:presLayoutVars>
      </dgm:prSet>
      <dgm:spPr/>
    </dgm:pt>
    <dgm:pt modelId="{C6C8FEF0-768C-4E9E-827C-4DB0C45D4070}" type="pres">
      <dgm:prSet presAssocID="{221C679C-C8A3-4373-8632-768BF57B1300}" presName="sibTrans" presStyleLbl="sibTrans2D1" presStyleIdx="5" presStyleCnt="7"/>
      <dgm:spPr/>
    </dgm:pt>
    <dgm:pt modelId="{72F22AC8-19A4-424B-B702-B3ECD7B4FE1E}" type="pres">
      <dgm:prSet presAssocID="{221C679C-C8A3-4373-8632-768BF57B1300}" presName="connectorText" presStyleLbl="sibTrans2D1" presStyleIdx="5" presStyleCnt="7"/>
      <dgm:spPr/>
    </dgm:pt>
    <dgm:pt modelId="{58D22E71-8C23-4CDD-AF4B-4691D4EEA0F3}" type="pres">
      <dgm:prSet presAssocID="{0058B02A-F2A8-4D73-8063-5EA322DE28BF}" presName="node" presStyleLbl="node1" presStyleIdx="6" presStyleCnt="8" custLinFactNeighborX="-55640" custLinFactNeighborY="74005">
        <dgm:presLayoutVars>
          <dgm:bulletEnabled val="1"/>
        </dgm:presLayoutVars>
      </dgm:prSet>
      <dgm:spPr/>
    </dgm:pt>
    <dgm:pt modelId="{7589DA83-5499-4C68-A2C4-A10F837A244B}" type="pres">
      <dgm:prSet presAssocID="{1512CF07-752A-40DC-8C8F-0BDDEC9999E0}" presName="sibTrans" presStyleLbl="sibTrans2D1" presStyleIdx="6" presStyleCnt="7"/>
      <dgm:spPr/>
    </dgm:pt>
    <dgm:pt modelId="{30354981-513D-4503-A007-8951CA73117D}" type="pres">
      <dgm:prSet presAssocID="{1512CF07-752A-40DC-8C8F-0BDDEC9999E0}" presName="connectorText" presStyleLbl="sibTrans2D1" presStyleIdx="6" presStyleCnt="7"/>
      <dgm:spPr/>
    </dgm:pt>
    <dgm:pt modelId="{4A3BA01C-D6E0-43E3-A208-913D6B742F07}" type="pres">
      <dgm:prSet presAssocID="{B9AC66C2-63DF-4CE8-9F06-DF207989E866}" presName="node" presStyleLbl="node1" presStyleIdx="7" presStyleCnt="8" custLinFactNeighborX="-303" custLinFactNeighborY="74005">
        <dgm:presLayoutVars>
          <dgm:bulletEnabled val="1"/>
        </dgm:presLayoutVars>
      </dgm:prSet>
      <dgm:spPr/>
    </dgm:pt>
  </dgm:ptLst>
  <dgm:cxnLst>
    <dgm:cxn modelId="{9E354D03-5D9F-4A5D-8CBB-D6B70CBFBCB2}" srcId="{EBFF8237-04AA-4F5A-9320-ABD7364CC339}" destId="{D2BAD7A1-9502-4A68-8A0C-C9254362C0DA}" srcOrd="3" destOrd="0" parTransId="{876C1D36-5E2D-4C07-8811-4A783AE6F81E}" sibTransId="{5FC52B23-FCCA-4ED4-846B-D753E6597020}"/>
    <dgm:cxn modelId="{5F6F8D08-E25F-4C4B-B2C4-8C0E0BCA561B}" type="presOf" srcId="{1512CF07-752A-40DC-8C8F-0BDDEC9999E0}" destId="{7589DA83-5499-4C68-A2C4-A10F837A244B}" srcOrd="0" destOrd="0" presId="urn:microsoft.com/office/officeart/2005/8/layout/process5"/>
    <dgm:cxn modelId="{4E258811-9627-46A9-A8DB-2E90F1D99742}" srcId="{EBFF8237-04AA-4F5A-9320-ABD7364CC339}" destId="{C8F18724-EEA5-4157-A56C-75A0854EF9CA}" srcOrd="2" destOrd="0" parTransId="{6E410A09-CAA7-4C96-8491-D40C46BBF02F}" sibTransId="{4228BAB8-9E29-4DA1-AA28-54C12B7EBDB1}"/>
    <dgm:cxn modelId="{57FB1816-C6B8-429D-BCDC-263C39114CF5}" type="presOf" srcId="{EFD191B3-3570-4835-99CA-5F1A04DCA5B9}" destId="{DD81B867-0535-4CB9-9685-8F2E8DD2BE9E}" srcOrd="1" destOrd="0" presId="urn:microsoft.com/office/officeart/2005/8/layout/process5"/>
    <dgm:cxn modelId="{A7C04F1B-A95C-403E-A18D-D3B269A385D3}" type="presOf" srcId="{0C6ABCDD-F89F-44BB-A77A-162EEAB01388}" destId="{F40C45BD-36CC-49FB-B395-07B69EA1BE30}" srcOrd="0" destOrd="0" presId="urn:microsoft.com/office/officeart/2005/8/layout/process5"/>
    <dgm:cxn modelId="{DCD8F02E-A42D-4E1D-A586-506EEF1A6317}" type="presOf" srcId="{5FC52B23-FCCA-4ED4-846B-D753E6597020}" destId="{94620DDB-C39B-4866-86B5-322039E1EDF7}" srcOrd="0" destOrd="0" presId="urn:microsoft.com/office/officeart/2005/8/layout/process5"/>
    <dgm:cxn modelId="{161B0130-5C69-41D7-AF2E-E7DA12FF3EA4}" type="presOf" srcId="{D2BAD7A1-9502-4A68-8A0C-C9254362C0DA}" destId="{4C18B528-58C4-4B78-B324-6CEE7B0DA7BA}" srcOrd="0" destOrd="0" presId="urn:microsoft.com/office/officeart/2005/8/layout/process5"/>
    <dgm:cxn modelId="{5C6A6631-5CC5-4143-9C80-37547E79D794}" type="presOf" srcId="{C01AA87B-385D-4333-B0F1-000CD07A2965}" destId="{B8158603-AC1D-4904-B0A7-6FF69F6D9EAD}" srcOrd="0" destOrd="0" presId="urn:microsoft.com/office/officeart/2005/8/layout/process5"/>
    <dgm:cxn modelId="{FB97EE35-C3E9-4AF3-A9A3-338A9460C131}" type="presOf" srcId="{355C0DB2-2DAB-4AD4-8711-83E899B99824}" destId="{042A1DD5-02D0-4BC4-A0DE-A38C319DEE02}" srcOrd="0" destOrd="0" presId="urn:microsoft.com/office/officeart/2005/8/layout/process5"/>
    <dgm:cxn modelId="{5ED2903B-2228-44D2-AA59-07D56DFA0D6D}" srcId="{EBFF8237-04AA-4F5A-9320-ABD7364CC339}" destId="{C01AA87B-385D-4333-B0F1-000CD07A2965}" srcOrd="1" destOrd="0" parTransId="{EDC25ED3-D017-439C-8A47-CE325B85F297}" sibTransId="{355C0DB2-2DAB-4AD4-8711-83E899B99824}"/>
    <dgm:cxn modelId="{3BFAB061-84C7-47D7-9C81-C4D4AE355EAA}" type="presOf" srcId="{0C6ABCDD-F89F-44BB-A77A-162EEAB01388}" destId="{49316B20-E465-4BCC-835E-BD7A31634949}" srcOrd="1" destOrd="0" presId="urn:microsoft.com/office/officeart/2005/8/layout/process5"/>
    <dgm:cxn modelId="{6E6A0263-02EC-471D-9BDF-67C226FBD682}" type="presOf" srcId="{C8F18724-EEA5-4157-A56C-75A0854EF9CA}" destId="{D7C9A867-61F4-4D54-87D1-865E49B69790}" srcOrd="0" destOrd="0" presId="urn:microsoft.com/office/officeart/2005/8/layout/process5"/>
    <dgm:cxn modelId="{80BD664E-0622-46A3-8244-A3B58707ADB6}" type="presOf" srcId="{D8BE5EF1-4095-45BF-9816-79859EC4BF5E}" destId="{8A9D7FA7-2EC2-4F96-9686-488D4FE4FD03}" srcOrd="0" destOrd="0" presId="urn:microsoft.com/office/officeart/2005/8/layout/process5"/>
    <dgm:cxn modelId="{18ACF66E-9B27-4B90-8462-9679898D8518}" type="presOf" srcId="{221C679C-C8A3-4373-8632-768BF57B1300}" destId="{72F22AC8-19A4-424B-B702-B3ECD7B4FE1E}" srcOrd="1" destOrd="0" presId="urn:microsoft.com/office/officeart/2005/8/layout/process5"/>
    <dgm:cxn modelId="{DA925F70-D00B-47D1-A90F-C6869267553D}" type="presOf" srcId="{1512CF07-752A-40DC-8C8F-0BDDEC9999E0}" destId="{30354981-513D-4503-A007-8951CA73117D}" srcOrd="1" destOrd="0" presId="urn:microsoft.com/office/officeart/2005/8/layout/process5"/>
    <dgm:cxn modelId="{A13E2051-BAAC-4B67-8A30-F7A786C3E13F}" type="presOf" srcId="{83FBAAB2-019A-4F1E-890B-7D422E5D8FC0}" destId="{E08A0808-D392-4CF1-A756-609F6E81BC98}" srcOrd="0" destOrd="0" presId="urn:microsoft.com/office/officeart/2005/8/layout/process5"/>
    <dgm:cxn modelId="{0313F074-411A-43AA-9246-CC818650BE76}" srcId="{EBFF8237-04AA-4F5A-9320-ABD7364CC339}" destId="{21156379-CB33-47E1-8BD6-39B88E7D9726}" srcOrd="4" destOrd="0" parTransId="{88E5FDAB-A1A9-424E-A108-E39939B9A80B}" sibTransId="{0C6ABCDD-F89F-44BB-A77A-162EEAB01388}"/>
    <dgm:cxn modelId="{0355FC58-D6C0-43FB-9736-B47002C5AA66}" type="presOf" srcId="{EFD191B3-3570-4835-99CA-5F1A04DCA5B9}" destId="{8FE53004-F59F-45B2-8527-C18E4D22435A}" srcOrd="0" destOrd="0" presId="urn:microsoft.com/office/officeart/2005/8/layout/process5"/>
    <dgm:cxn modelId="{A1F9EB88-A76D-42B8-BCE7-464CCCB999DE}" type="presOf" srcId="{4228BAB8-9E29-4DA1-AA28-54C12B7EBDB1}" destId="{2EC03E6C-EC3D-4CC3-A6D2-FDD8BECB1304}" srcOrd="0" destOrd="0" presId="urn:microsoft.com/office/officeart/2005/8/layout/process5"/>
    <dgm:cxn modelId="{9D4A798D-243D-444F-AF4E-BD2D92577E21}" type="presOf" srcId="{5FC52B23-FCCA-4ED4-846B-D753E6597020}" destId="{47C79EF8-4184-48AD-9AD8-09F07A15A4C3}" srcOrd="1" destOrd="0" presId="urn:microsoft.com/office/officeart/2005/8/layout/process5"/>
    <dgm:cxn modelId="{EA77F391-4061-43C7-AE98-7C99114228C3}" type="presOf" srcId="{221C679C-C8A3-4373-8632-768BF57B1300}" destId="{C6C8FEF0-768C-4E9E-827C-4DB0C45D4070}" srcOrd="0" destOrd="0" presId="urn:microsoft.com/office/officeart/2005/8/layout/process5"/>
    <dgm:cxn modelId="{E0956F92-C892-4323-B3B5-1203742FD5D2}" type="presOf" srcId="{4228BAB8-9E29-4DA1-AA28-54C12B7EBDB1}" destId="{FA87BD66-456A-470C-857E-2B2780289EE9}" srcOrd="1" destOrd="0" presId="urn:microsoft.com/office/officeart/2005/8/layout/process5"/>
    <dgm:cxn modelId="{F4E0F5A5-9ECE-4D11-BD7E-DCFDFE9A2757}" srcId="{EBFF8237-04AA-4F5A-9320-ABD7364CC339}" destId="{B9AC66C2-63DF-4CE8-9F06-DF207989E866}" srcOrd="7" destOrd="0" parTransId="{E6BE7B56-E958-439B-8450-12820915F246}" sibTransId="{8BED7ED4-031C-478F-892A-410B03798A1D}"/>
    <dgm:cxn modelId="{D29749AA-2FA2-493B-9652-385C3934B72B}" srcId="{EBFF8237-04AA-4F5A-9320-ABD7364CC339}" destId="{D8BE5EF1-4095-45BF-9816-79859EC4BF5E}" srcOrd="5" destOrd="0" parTransId="{77CB3C1B-A87E-4299-AECB-9363FC8F3792}" sibTransId="{221C679C-C8A3-4373-8632-768BF57B1300}"/>
    <dgm:cxn modelId="{6EC80DC5-F4E8-42CD-AD8B-62260AAB454A}" type="presOf" srcId="{355C0DB2-2DAB-4AD4-8711-83E899B99824}" destId="{94CD4563-27A0-4175-813E-9B7E2F3AE3A3}" srcOrd="1" destOrd="0" presId="urn:microsoft.com/office/officeart/2005/8/layout/process5"/>
    <dgm:cxn modelId="{A6659CC8-6300-46D5-89AD-E05C85A39A98}" type="presOf" srcId="{0058B02A-F2A8-4D73-8063-5EA322DE28BF}" destId="{58D22E71-8C23-4CDD-AF4B-4691D4EEA0F3}" srcOrd="0" destOrd="0" presId="urn:microsoft.com/office/officeart/2005/8/layout/process5"/>
    <dgm:cxn modelId="{9880DED1-3B56-4E46-8B98-A530A48111F7}" srcId="{EBFF8237-04AA-4F5A-9320-ABD7364CC339}" destId="{83FBAAB2-019A-4F1E-890B-7D422E5D8FC0}" srcOrd="0" destOrd="0" parTransId="{D4574962-4C29-4AF4-B036-0C49B26924F6}" sibTransId="{EFD191B3-3570-4835-99CA-5F1A04DCA5B9}"/>
    <dgm:cxn modelId="{DB021DD2-F137-46D2-BD76-88CD221CED5F}" type="presOf" srcId="{EBFF8237-04AA-4F5A-9320-ABD7364CC339}" destId="{3D08DF5C-D56F-4D92-BAA3-78221AB28E13}" srcOrd="0" destOrd="0" presId="urn:microsoft.com/office/officeart/2005/8/layout/process5"/>
    <dgm:cxn modelId="{29B1BAD4-0F79-4B07-B223-B7AF9EF71DE7}" type="presOf" srcId="{B9AC66C2-63DF-4CE8-9F06-DF207989E866}" destId="{4A3BA01C-D6E0-43E3-A208-913D6B742F07}" srcOrd="0" destOrd="0" presId="urn:microsoft.com/office/officeart/2005/8/layout/process5"/>
    <dgm:cxn modelId="{328EE5DE-B00B-43DA-BE0B-BB467BE1C07C}" srcId="{EBFF8237-04AA-4F5A-9320-ABD7364CC339}" destId="{0058B02A-F2A8-4D73-8063-5EA322DE28BF}" srcOrd="6" destOrd="0" parTransId="{FADA9CE7-7915-4CB1-8B80-CD2AD06A8C94}" sibTransId="{1512CF07-752A-40DC-8C8F-0BDDEC9999E0}"/>
    <dgm:cxn modelId="{BC7FF8FA-ED00-4BA6-ACE2-ADE74267E45C}" type="presOf" srcId="{21156379-CB33-47E1-8BD6-39B88E7D9726}" destId="{4931A343-0261-4B0C-A9B3-0F4D4147CFB5}" srcOrd="0" destOrd="0" presId="urn:microsoft.com/office/officeart/2005/8/layout/process5"/>
    <dgm:cxn modelId="{0297EEC3-624F-4040-9A56-A9734DDBB579}" type="presParOf" srcId="{3D08DF5C-D56F-4D92-BAA3-78221AB28E13}" destId="{E08A0808-D392-4CF1-A756-609F6E81BC98}" srcOrd="0" destOrd="0" presId="urn:microsoft.com/office/officeart/2005/8/layout/process5"/>
    <dgm:cxn modelId="{4A1607C9-3BD3-4665-9D74-46DB7E124B88}" type="presParOf" srcId="{3D08DF5C-D56F-4D92-BAA3-78221AB28E13}" destId="{8FE53004-F59F-45B2-8527-C18E4D22435A}" srcOrd="1" destOrd="0" presId="urn:microsoft.com/office/officeart/2005/8/layout/process5"/>
    <dgm:cxn modelId="{C975EF51-0CCF-4BF4-B8AB-42194972A8B8}" type="presParOf" srcId="{8FE53004-F59F-45B2-8527-C18E4D22435A}" destId="{DD81B867-0535-4CB9-9685-8F2E8DD2BE9E}" srcOrd="0" destOrd="0" presId="urn:microsoft.com/office/officeart/2005/8/layout/process5"/>
    <dgm:cxn modelId="{B3988991-29FB-49CD-80FD-05F0012B6DE3}" type="presParOf" srcId="{3D08DF5C-D56F-4D92-BAA3-78221AB28E13}" destId="{B8158603-AC1D-4904-B0A7-6FF69F6D9EAD}" srcOrd="2" destOrd="0" presId="urn:microsoft.com/office/officeart/2005/8/layout/process5"/>
    <dgm:cxn modelId="{B2DA1A64-4F27-40FE-8BE8-76BA7F354DE8}" type="presParOf" srcId="{3D08DF5C-D56F-4D92-BAA3-78221AB28E13}" destId="{042A1DD5-02D0-4BC4-A0DE-A38C319DEE02}" srcOrd="3" destOrd="0" presId="urn:microsoft.com/office/officeart/2005/8/layout/process5"/>
    <dgm:cxn modelId="{8441D5E7-893E-4D8A-9302-F0291785F18B}" type="presParOf" srcId="{042A1DD5-02D0-4BC4-A0DE-A38C319DEE02}" destId="{94CD4563-27A0-4175-813E-9B7E2F3AE3A3}" srcOrd="0" destOrd="0" presId="urn:microsoft.com/office/officeart/2005/8/layout/process5"/>
    <dgm:cxn modelId="{376AA52C-6F15-4654-B56B-77B4DB29F1F7}" type="presParOf" srcId="{3D08DF5C-D56F-4D92-BAA3-78221AB28E13}" destId="{D7C9A867-61F4-4D54-87D1-865E49B69790}" srcOrd="4" destOrd="0" presId="urn:microsoft.com/office/officeart/2005/8/layout/process5"/>
    <dgm:cxn modelId="{2F6AC354-6BDD-4059-9661-7F0AF3AEB77F}" type="presParOf" srcId="{3D08DF5C-D56F-4D92-BAA3-78221AB28E13}" destId="{2EC03E6C-EC3D-4CC3-A6D2-FDD8BECB1304}" srcOrd="5" destOrd="0" presId="urn:microsoft.com/office/officeart/2005/8/layout/process5"/>
    <dgm:cxn modelId="{D6E49092-C236-4FE9-A9E2-6258DBFF9718}" type="presParOf" srcId="{2EC03E6C-EC3D-4CC3-A6D2-FDD8BECB1304}" destId="{FA87BD66-456A-470C-857E-2B2780289EE9}" srcOrd="0" destOrd="0" presId="urn:microsoft.com/office/officeart/2005/8/layout/process5"/>
    <dgm:cxn modelId="{72027819-0FFD-43A3-A3BC-DF5033C83B0E}" type="presParOf" srcId="{3D08DF5C-D56F-4D92-BAA3-78221AB28E13}" destId="{4C18B528-58C4-4B78-B324-6CEE7B0DA7BA}" srcOrd="6" destOrd="0" presId="urn:microsoft.com/office/officeart/2005/8/layout/process5"/>
    <dgm:cxn modelId="{068F65D8-F9BD-41CA-A973-5CF4B3F89CD0}" type="presParOf" srcId="{3D08DF5C-D56F-4D92-BAA3-78221AB28E13}" destId="{94620DDB-C39B-4866-86B5-322039E1EDF7}" srcOrd="7" destOrd="0" presId="urn:microsoft.com/office/officeart/2005/8/layout/process5"/>
    <dgm:cxn modelId="{46F6D4DB-D628-4333-8D4D-3DFA39C785E3}" type="presParOf" srcId="{94620DDB-C39B-4866-86B5-322039E1EDF7}" destId="{47C79EF8-4184-48AD-9AD8-09F07A15A4C3}" srcOrd="0" destOrd="0" presId="urn:microsoft.com/office/officeart/2005/8/layout/process5"/>
    <dgm:cxn modelId="{59E84007-E849-458A-A27D-BDFF1ECF57A2}" type="presParOf" srcId="{3D08DF5C-D56F-4D92-BAA3-78221AB28E13}" destId="{4931A343-0261-4B0C-A9B3-0F4D4147CFB5}" srcOrd="8" destOrd="0" presId="urn:microsoft.com/office/officeart/2005/8/layout/process5"/>
    <dgm:cxn modelId="{3D858E01-A1FF-4BF9-9262-C9822AA9CC6A}" type="presParOf" srcId="{3D08DF5C-D56F-4D92-BAA3-78221AB28E13}" destId="{F40C45BD-36CC-49FB-B395-07B69EA1BE30}" srcOrd="9" destOrd="0" presId="urn:microsoft.com/office/officeart/2005/8/layout/process5"/>
    <dgm:cxn modelId="{D158B78C-981A-465B-BF68-3E947E24D3A3}" type="presParOf" srcId="{F40C45BD-36CC-49FB-B395-07B69EA1BE30}" destId="{49316B20-E465-4BCC-835E-BD7A31634949}" srcOrd="0" destOrd="0" presId="urn:microsoft.com/office/officeart/2005/8/layout/process5"/>
    <dgm:cxn modelId="{6DEF37BE-711F-4D98-B6D8-A1401660F6B5}" type="presParOf" srcId="{3D08DF5C-D56F-4D92-BAA3-78221AB28E13}" destId="{8A9D7FA7-2EC2-4F96-9686-488D4FE4FD03}" srcOrd="10" destOrd="0" presId="urn:microsoft.com/office/officeart/2005/8/layout/process5"/>
    <dgm:cxn modelId="{1C13DB35-3FD5-47F3-B970-2157917DB911}" type="presParOf" srcId="{3D08DF5C-D56F-4D92-BAA3-78221AB28E13}" destId="{C6C8FEF0-768C-4E9E-827C-4DB0C45D4070}" srcOrd="11" destOrd="0" presId="urn:microsoft.com/office/officeart/2005/8/layout/process5"/>
    <dgm:cxn modelId="{8B6D5815-51CC-4609-AC78-130C81591044}" type="presParOf" srcId="{C6C8FEF0-768C-4E9E-827C-4DB0C45D4070}" destId="{72F22AC8-19A4-424B-B702-B3ECD7B4FE1E}" srcOrd="0" destOrd="0" presId="urn:microsoft.com/office/officeart/2005/8/layout/process5"/>
    <dgm:cxn modelId="{E3606BC5-9A7B-426B-96F1-6A17C8E0536C}" type="presParOf" srcId="{3D08DF5C-D56F-4D92-BAA3-78221AB28E13}" destId="{58D22E71-8C23-4CDD-AF4B-4691D4EEA0F3}" srcOrd="12" destOrd="0" presId="urn:microsoft.com/office/officeart/2005/8/layout/process5"/>
    <dgm:cxn modelId="{123E7FDD-B85A-4C95-A719-B5B716492C20}" type="presParOf" srcId="{3D08DF5C-D56F-4D92-BAA3-78221AB28E13}" destId="{7589DA83-5499-4C68-A2C4-A10F837A244B}" srcOrd="13" destOrd="0" presId="urn:microsoft.com/office/officeart/2005/8/layout/process5"/>
    <dgm:cxn modelId="{9CE78B35-89BA-4DAB-BCA7-46A81F826F0A}" type="presParOf" srcId="{7589DA83-5499-4C68-A2C4-A10F837A244B}" destId="{30354981-513D-4503-A007-8951CA73117D}" srcOrd="0" destOrd="0" presId="urn:microsoft.com/office/officeart/2005/8/layout/process5"/>
    <dgm:cxn modelId="{DF38ACD3-F199-417E-80CA-E9C794E67B94}" type="presParOf" srcId="{3D08DF5C-D56F-4D92-BAA3-78221AB28E13}" destId="{4A3BA01C-D6E0-43E3-A208-913D6B742F07}" srcOrd="1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A0808-D392-4CF1-A756-609F6E81BC98}">
      <dsp:nvSpPr>
        <dsp:cNvPr id="0" name=""/>
        <dsp:cNvSpPr/>
      </dsp:nvSpPr>
      <dsp:spPr>
        <a:xfrm>
          <a:off x="67237" y="33793"/>
          <a:ext cx="1714716" cy="1028829"/>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noProof="0" dirty="0"/>
            <a:t>Overview</a:t>
          </a:r>
          <a:endParaRPr lang="en-IN" sz="1400" kern="1200" noProof="0" dirty="0"/>
        </a:p>
      </dsp:txBody>
      <dsp:txXfrm>
        <a:off x="97370" y="63926"/>
        <a:ext cx="1654450" cy="968563"/>
      </dsp:txXfrm>
    </dsp:sp>
    <dsp:sp modelId="{8FE53004-F59F-45B2-8527-C18E4D22435A}">
      <dsp:nvSpPr>
        <dsp:cNvPr id="0" name=""/>
        <dsp:cNvSpPr/>
      </dsp:nvSpPr>
      <dsp:spPr>
        <a:xfrm rot="21565814">
          <a:off x="2146916" y="319055"/>
          <a:ext cx="879325" cy="425249"/>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2146919" y="404739"/>
        <a:ext cx="751750" cy="255149"/>
      </dsp:txXfrm>
    </dsp:sp>
    <dsp:sp modelId="{B8158603-AC1D-4904-B0A7-6FF69F6D9EAD}">
      <dsp:nvSpPr>
        <dsp:cNvPr id="0" name=""/>
        <dsp:cNvSpPr/>
      </dsp:nvSpPr>
      <dsp:spPr>
        <a:xfrm>
          <a:off x="3440975" y="243"/>
          <a:ext cx="1714716" cy="1028829"/>
        </a:xfrm>
        <a:prstGeom prst="roundRect">
          <a:avLst>
            <a:gd name="adj" fmla="val 10000"/>
          </a:avLst>
        </a:prstGeom>
        <a:solidFill>
          <a:schemeClr val="accent2">
            <a:hueOff val="-423469"/>
            <a:satOff val="2029"/>
            <a:lumOff val="187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noProof="0" dirty="0"/>
            <a:t>Introduction to Dataset</a:t>
          </a:r>
          <a:endParaRPr lang="en-IN" sz="1400" kern="1200" noProof="0" dirty="0"/>
        </a:p>
      </dsp:txBody>
      <dsp:txXfrm>
        <a:off x="3471108" y="30376"/>
        <a:ext cx="1654450" cy="968563"/>
      </dsp:txXfrm>
    </dsp:sp>
    <dsp:sp modelId="{042A1DD5-02D0-4BC4-A0DE-A38C319DEE02}">
      <dsp:nvSpPr>
        <dsp:cNvPr id="0" name=""/>
        <dsp:cNvSpPr/>
      </dsp:nvSpPr>
      <dsp:spPr>
        <a:xfrm rot="25141">
          <a:off x="5535456" y="314426"/>
          <a:ext cx="914940" cy="425249"/>
        </a:xfrm>
        <a:prstGeom prst="rightArrow">
          <a:avLst>
            <a:gd name="adj1" fmla="val 60000"/>
            <a:gd name="adj2" fmla="val 50000"/>
          </a:avLst>
        </a:prstGeom>
        <a:solidFill>
          <a:schemeClr val="accent2">
            <a:hueOff val="-494048"/>
            <a:satOff val="2367"/>
            <a:lumOff val="219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5535458" y="399010"/>
        <a:ext cx="787365" cy="255149"/>
      </dsp:txXfrm>
    </dsp:sp>
    <dsp:sp modelId="{D7C9A867-61F4-4D54-87D1-865E49B69790}">
      <dsp:nvSpPr>
        <dsp:cNvPr id="0" name=""/>
        <dsp:cNvSpPr/>
      </dsp:nvSpPr>
      <dsp:spPr>
        <a:xfrm>
          <a:off x="6881948" y="25408"/>
          <a:ext cx="1714716" cy="1028829"/>
        </a:xfrm>
        <a:prstGeom prst="roundRect">
          <a:avLst>
            <a:gd name="adj" fmla="val 10000"/>
          </a:avLst>
        </a:prstGeom>
        <a:solidFill>
          <a:schemeClr val="accent2">
            <a:hueOff val="-846939"/>
            <a:satOff val="4057"/>
            <a:lumOff val="37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Data Cleaning &amp; Preprocessing</a:t>
          </a:r>
          <a:endParaRPr lang="en-IN" sz="1400" kern="1200" noProof="0" dirty="0"/>
        </a:p>
      </dsp:txBody>
      <dsp:txXfrm>
        <a:off x="6912081" y="55541"/>
        <a:ext cx="1654450" cy="968563"/>
      </dsp:txXfrm>
    </dsp:sp>
    <dsp:sp modelId="{2EC03E6C-EC3D-4CC3-A6D2-FDD8BECB1304}">
      <dsp:nvSpPr>
        <dsp:cNvPr id="0" name=""/>
        <dsp:cNvSpPr/>
      </dsp:nvSpPr>
      <dsp:spPr>
        <a:xfrm rot="5399993">
          <a:off x="7548540" y="1190754"/>
          <a:ext cx="381535" cy="425249"/>
        </a:xfrm>
        <a:prstGeom prst="rightArrow">
          <a:avLst>
            <a:gd name="adj1" fmla="val 60000"/>
            <a:gd name="adj2" fmla="val 50000"/>
          </a:avLst>
        </a:prstGeom>
        <a:solidFill>
          <a:schemeClr val="accent2">
            <a:hueOff val="-988095"/>
            <a:satOff val="4733"/>
            <a:lumOff val="437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rot="-5400000">
        <a:off x="7611733" y="1212611"/>
        <a:ext cx="255149" cy="267075"/>
      </dsp:txXfrm>
    </dsp:sp>
    <dsp:sp modelId="{4C18B528-58C4-4B78-B324-6CEE7B0DA7BA}">
      <dsp:nvSpPr>
        <dsp:cNvPr id="0" name=""/>
        <dsp:cNvSpPr/>
      </dsp:nvSpPr>
      <dsp:spPr>
        <a:xfrm>
          <a:off x="6881951" y="1774117"/>
          <a:ext cx="1714716" cy="1028829"/>
        </a:xfrm>
        <a:prstGeom prst="roundRect">
          <a:avLst>
            <a:gd name="adj" fmla="val 10000"/>
          </a:avLst>
        </a:prstGeom>
        <a:solidFill>
          <a:schemeClr val="accent2">
            <a:hueOff val="-1270408"/>
            <a:satOff val="6086"/>
            <a:lumOff val="563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noProof="0" dirty="0"/>
            <a:t>Exploratory Data Analysis</a:t>
          </a:r>
          <a:endParaRPr lang="en-IN" sz="1400" kern="1200" noProof="0" dirty="0"/>
        </a:p>
      </dsp:txBody>
      <dsp:txXfrm>
        <a:off x="6912084" y="1804250"/>
        <a:ext cx="1654450" cy="968563"/>
      </dsp:txXfrm>
    </dsp:sp>
    <dsp:sp modelId="{94620DDB-C39B-4866-86B5-322039E1EDF7}">
      <dsp:nvSpPr>
        <dsp:cNvPr id="0" name=""/>
        <dsp:cNvSpPr/>
      </dsp:nvSpPr>
      <dsp:spPr>
        <a:xfrm rot="10783236">
          <a:off x="5587251" y="2084171"/>
          <a:ext cx="914928" cy="425249"/>
        </a:xfrm>
        <a:prstGeom prst="rightArrow">
          <a:avLst>
            <a:gd name="adj1" fmla="val 60000"/>
            <a:gd name="adj2" fmla="val 50000"/>
          </a:avLst>
        </a:prstGeom>
        <a:solidFill>
          <a:schemeClr val="accent2">
            <a:hueOff val="-1482143"/>
            <a:satOff val="7100"/>
            <a:lumOff val="65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10800000">
        <a:off x="5714825" y="2168910"/>
        <a:ext cx="787353" cy="255149"/>
      </dsp:txXfrm>
    </dsp:sp>
    <dsp:sp modelId="{4931A343-0261-4B0C-A9B3-0F4D4147CFB5}">
      <dsp:nvSpPr>
        <dsp:cNvPr id="0" name=""/>
        <dsp:cNvSpPr/>
      </dsp:nvSpPr>
      <dsp:spPr>
        <a:xfrm>
          <a:off x="3440975" y="1790897"/>
          <a:ext cx="1714716" cy="1028829"/>
        </a:xfrm>
        <a:prstGeom prst="roundRect">
          <a:avLst>
            <a:gd name="adj" fmla="val 10000"/>
          </a:avLst>
        </a:prstGeom>
        <a:solidFill>
          <a:schemeClr val="accent2">
            <a:hueOff val="-1693878"/>
            <a:satOff val="8114"/>
            <a:lumOff val="750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noProof="0" dirty="0"/>
            <a:t>Key Findings from PCA Implementation</a:t>
          </a:r>
        </a:p>
      </dsp:txBody>
      <dsp:txXfrm>
        <a:off x="3471108" y="1821030"/>
        <a:ext cx="1654450" cy="968563"/>
      </dsp:txXfrm>
    </dsp:sp>
    <dsp:sp modelId="{F40C45BD-36CC-49FB-B395-07B69EA1BE30}">
      <dsp:nvSpPr>
        <dsp:cNvPr id="0" name=""/>
        <dsp:cNvSpPr/>
      </dsp:nvSpPr>
      <dsp:spPr>
        <a:xfrm rot="10800000">
          <a:off x="2190433" y="2092687"/>
          <a:ext cx="883716" cy="425249"/>
        </a:xfrm>
        <a:prstGeom prst="rightArrow">
          <a:avLst>
            <a:gd name="adj1" fmla="val 60000"/>
            <a:gd name="adj2" fmla="val 50000"/>
          </a:avLst>
        </a:prstGeom>
        <a:solidFill>
          <a:schemeClr val="accent2">
            <a:hueOff val="-1976191"/>
            <a:satOff val="9467"/>
            <a:lumOff val="875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rot="10800000">
        <a:off x="2318008" y="2177737"/>
        <a:ext cx="756141" cy="255149"/>
      </dsp:txXfrm>
    </dsp:sp>
    <dsp:sp modelId="{8A9D7FA7-2EC2-4F96-9686-488D4FE4FD03}">
      <dsp:nvSpPr>
        <dsp:cNvPr id="0" name=""/>
        <dsp:cNvSpPr/>
      </dsp:nvSpPr>
      <dsp:spPr>
        <a:xfrm>
          <a:off x="58869" y="1790897"/>
          <a:ext cx="1714716" cy="1028829"/>
        </a:xfrm>
        <a:prstGeom prst="roundRect">
          <a:avLst>
            <a:gd name="adj" fmla="val 10000"/>
          </a:avLst>
        </a:prstGeom>
        <a:solidFill>
          <a:schemeClr val="accent2">
            <a:hueOff val="-2117347"/>
            <a:satOff val="10143"/>
            <a:lumOff val="938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kern="1200" noProof="0" dirty="0"/>
            <a:t>Key Findings from t-SNE Implementation</a:t>
          </a:r>
        </a:p>
      </dsp:txBody>
      <dsp:txXfrm>
        <a:off x="89002" y="1821030"/>
        <a:ext cx="1654450" cy="968563"/>
      </dsp:txXfrm>
    </dsp:sp>
    <dsp:sp modelId="{C6C8FEF0-768C-4E9E-827C-4DB0C45D4070}">
      <dsp:nvSpPr>
        <dsp:cNvPr id="0" name=""/>
        <dsp:cNvSpPr/>
      </dsp:nvSpPr>
      <dsp:spPr>
        <a:xfrm rot="5342461">
          <a:off x="768068" y="2903045"/>
          <a:ext cx="323447" cy="425249"/>
        </a:xfrm>
        <a:prstGeom prst="rightArrow">
          <a:avLst>
            <a:gd name="adj1" fmla="val 60000"/>
            <a:gd name="adj2" fmla="val 50000"/>
          </a:avLst>
        </a:prstGeom>
        <a:solidFill>
          <a:schemeClr val="accent2">
            <a:hueOff val="-2470238"/>
            <a:satOff val="11833"/>
            <a:lumOff val="1094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rot="-5400000">
        <a:off x="801405" y="2953953"/>
        <a:ext cx="255149" cy="226413"/>
      </dsp:txXfrm>
    </dsp:sp>
    <dsp:sp modelId="{58D22E71-8C23-4CDD-AF4B-4691D4EEA0F3}">
      <dsp:nvSpPr>
        <dsp:cNvPr id="0" name=""/>
        <dsp:cNvSpPr/>
      </dsp:nvSpPr>
      <dsp:spPr>
        <a:xfrm>
          <a:off x="86305" y="3429919"/>
          <a:ext cx="1714716" cy="1028829"/>
        </a:xfrm>
        <a:prstGeom prst="roundRect">
          <a:avLst>
            <a:gd name="adj" fmla="val 10000"/>
          </a:avLst>
        </a:prstGeom>
        <a:solidFill>
          <a:schemeClr val="accent2">
            <a:hueOff val="-2540817"/>
            <a:satOff val="12171"/>
            <a:lumOff val="1126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0" kern="1200" noProof="0" dirty="0"/>
            <a:t>Comparative Analysis: PCA vs. t-SNE</a:t>
          </a:r>
        </a:p>
      </dsp:txBody>
      <dsp:txXfrm>
        <a:off x="116438" y="3460052"/>
        <a:ext cx="1654450" cy="968563"/>
      </dsp:txXfrm>
    </dsp:sp>
    <dsp:sp modelId="{7589DA83-5499-4C68-A2C4-A10F837A244B}">
      <dsp:nvSpPr>
        <dsp:cNvPr id="0" name=""/>
        <dsp:cNvSpPr/>
      </dsp:nvSpPr>
      <dsp:spPr>
        <a:xfrm>
          <a:off x="2160668" y="3731709"/>
          <a:ext cx="866422" cy="425249"/>
        </a:xfrm>
        <a:prstGeom prst="rightArrow">
          <a:avLst>
            <a:gd name="adj1" fmla="val 60000"/>
            <a:gd name="adj2" fmla="val 50000"/>
          </a:avLst>
        </a:prstGeom>
        <a:solidFill>
          <a:schemeClr val="accent2">
            <a:hueOff val="-2964286"/>
            <a:satOff val="14200"/>
            <a:lumOff val="1313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IN" sz="1900" kern="1200"/>
        </a:p>
      </dsp:txBody>
      <dsp:txXfrm>
        <a:off x="2160668" y="3816759"/>
        <a:ext cx="738847" cy="255149"/>
      </dsp:txXfrm>
    </dsp:sp>
    <dsp:sp modelId="{4A3BA01C-D6E0-43E3-A208-913D6B742F07}">
      <dsp:nvSpPr>
        <dsp:cNvPr id="0" name=""/>
        <dsp:cNvSpPr/>
      </dsp:nvSpPr>
      <dsp:spPr>
        <a:xfrm>
          <a:off x="3435780" y="3429919"/>
          <a:ext cx="1714716" cy="1028829"/>
        </a:xfrm>
        <a:prstGeom prst="roundRect">
          <a:avLst>
            <a:gd name="adj" fmla="val 10000"/>
          </a:avLst>
        </a:prstGeom>
        <a:solidFill>
          <a:schemeClr val="accent2">
            <a:hueOff val="-2964286"/>
            <a:satOff val="14200"/>
            <a:lumOff val="13137"/>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0" kern="1200" noProof="0"/>
            <a:t>Actionable Insights</a:t>
          </a:r>
          <a:endParaRPr lang="en-IN" sz="1500" b="0" kern="1200" noProof="0" dirty="0"/>
        </a:p>
      </dsp:txBody>
      <dsp:txXfrm>
        <a:off x="3465913" y="3460052"/>
        <a:ext cx="1654450" cy="9685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1803400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570317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4114216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2885533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569796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4169413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3710487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164744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128133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684039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26923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1779127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41229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2787204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1452291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3FAC6-2A3B-48F0-AABD-BF354E8F96EB}" type="datetimeFigureOut">
              <a:rPr lang="en-IN" smtClean="0"/>
              <a:t>02-04-2026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CAEAAD6D-11AE-44C6-BEF0-EFE06E72BB7F}" type="slidenum">
              <a:rPr lang="en-IN" smtClean="0"/>
              <a:t>‹#›</a:t>
            </a:fld>
            <a:endParaRPr lang="en-IN" dirty="0"/>
          </a:p>
        </p:txBody>
      </p:sp>
    </p:spTree>
    <p:extLst>
      <p:ext uri="{BB962C8B-B14F-4D97-AF65-F5344CB8AC3E}">
        <p14:creationId xmlns:p14="http://schemas.microsoft.com/office/powerpoint/2010/main" val="3906532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dirty="0"/>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CE3FAC6-2A3B-48F0-AABD-BF354E8F96EB}" type="datetimeFigureOut">
              <a:rPr lang="en-IN" smtClean="0"/>
              <a:t>02-04-2026</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AEAAD6D-11AE-44C6-BEF0-EFE06E72BB7F}" type="slidenum">
              <a:rPr lang="en-IN" smtClean="0"/>
              <a:t>‹#›</a:t>
            </a:fld>
            <a:endParaRPr lang="en-IN" dirty="0"/>
          </a:p>
        </p:txBody>
      </p:sp>
    </p:spTree>
    <p:extLst>
      <p:ext uri="{BB962C8B-B14F-4D97-AF65-F5344CB8AC3E}">
        <p14:creationId xmlns:p14="http://schemas.microsoft.com/office/powerpoint/2010/main" val="4180241192"/>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2103DF8-8179-714E-D69B-D28B9F7514A6}"/>
              </a:ext>
            </a:extLst>
          </p:cNvPr>
          <p:cNvPicPr>
            <a:picLocks noChangeAspect="1"/>
          </p:cNvPicPr>
          <p:nvPr/>
        </p:nvPicPr>
        <p:blipFill>
          <a:blip r:embed="rId2">
            <a:duotone>
              <a:schemeClr val="accent1">
                <a:shade val="45000"/>
                <a:satMod val="135000"/>
              </a:schemeClr>
              <a:prstClr val="white"/>
            </a:duotone>
            <a:alphaModFix amt="19000"/>
            <a:extLst>
              <a:ext uri="{28A0092B-C50C-407E-A947-70E740481C1C}">
                <a14:useLocalDpi xmlns:a14="http://schemas.microsoft.com/office/drawing/2010/main" val="0"/>
              </a:ext>
            </a:extLst>
          </a:blip>
          <a:srcRect l="-566" r="1"/>
          <a:stretch>
            <a:fillRect/>
          </a:stretch>
        </p:blipFill>
        <p:spPr>
          <a:xfrm flipV="1">
            <a:off x="-67771" y="-16294"/>
            <a:ext cx="6163771" cy="6874294"/>
          </a:xfrm>
          <a:prstGeom prst="rect">
            <a:avLst/>
          </a:prstGeom>
        </p:spPr>
      </p:pic>
      <p:sp>
        <p:nvSpPr>
          <p:cNvPr id="2" name="Title 1">
            <a:extLst>
              <a:ext uri="{FF2B5EF4-FFF2-40B4-BE49-F238E27FC236}">
                <a16:creationId xmlns:a16="http://schemas.microsoft.com/office/drawing/2014/main" id="{3BC0F459-BCD5-CCDE-46C3-E3644B6B4462}"/>
              </a:ext>
            </a:extLst>
          </p:cNvPr>
          <p:cNvSpPr>
            <a:spLocks noGrp="1"/>
          </p:cNvSpPr>
          <p:nvPr>
            <p:ph type="ctrTitle"/>
          </p:nvPr>
        </p:nvSpPr>
        <p:spPr/>
        <p:txBody>
          <a:bodyPr/>
          <a:lstStyle/>
          <a:p>
            <a:r>
              <a:rPr lang="en-IN" noProof="0" dirty="0"/>
              <a:t>Project on Dimensionality Reduction</a:t>
            </a:r>
          </a:p>
        </p:txBody>
      </p:sp>
      <p:sp>
        <p:nvSpPr>
          <p:cNvPr id="3" name="Subtitle 2">
            <a:extLst>
              <a:ext uri="{FF2B5EF4-FFF2-40B4-BE49-F238E27FC236}">
                <a16:creationId xmlns:a16="http://schemas.microsoft.com/office/drawing/2014/main" id="{049C623A-0D1C-7EAB-B9CF-2FF1F8910FFC}"/>
              </a:ext>
            </a:extLst>
          </p:cNvPr>
          <p:cNvSpPr>
            <a:spLocks noGrp="1"/>
          </p:cNvSpPr>
          <p:nvPr>
            <p:ph type="subTitle" idx="1"/>
          </p:nvPr>
        </p:nvSpPr>
        <p:spPr/>
        <p:txBody>
          <a:bodyPr/>
          <a:lstStyle/>
          <a:p>
            <a:r>
              <a:rPr lang="en-IN" noProof="0" dirty="0">
                <a:solidFill>
                  <a:schemeClr val="tx1">
                    <a:lumMod val="75000"/>
                    <a:lumOff val="25000"/>
                  </a:schemeClr>
                </a:solidFill>
              </a:rPr>
              <a:t>By Prithujit Ghosh</a:t>
            </a:r>
          </a:p>
        </p:txBody>
      </p:sp>
      <p:pic>
        <p:nvPicPr>
          <p:cNvPr id="17" name="Picture 16">
            <a:extLst>
              <a:ext uri="{FF2B5EF4-FFF2-40B4-BE49-F238E27FC236}">
                <a16:creationId xmlns:a16="http://schemas.microsoft.com/office/drawing/2014/main" id="{5CA11C0D-5438-4A3C-1C56-D46F06E32060}"/>
              </a:ext>
            </a:extLst>
          </p:cNvPr>
          <p:cNvPicPr>
            <a:picLocks noChangeAspect="1"/>
          </p:cNvPicPr>
          <p:nvPr/>
        </p:nvPicPr>
        <p:blipFill>
          <a:blip r:embed="rId3">
            <a:duotone>
              <a:schemeClr val="accent1">
                <a:shade val="45000"/>
                <a:satMod val="135000"/>
              </a:schemeClr>
              <a:prstClr val="white"/>
            </a:duotone>
            <a:alphaModFix amt="12000"/>
            <a:extLst>
              <a:ext uri="{28A0092B-C50C-407E-A947-70E740481C1C}">
                <a14:useLocalDpi xmlns:a14="http://schemas.microsoft.com/office/drawing/2010/main" val="0"/>
              </a:ext>
            </a:extLst>
          </a:blip>
          <a:stretch>
            <a:fillRect/>
          </a:stretch>
        </p:blipFill>
        <p:spPr>
          <a:xfrm>
            <a:off x="5863800" y="1272646"/>
            <a:ext cx="3614075" cy="3963986"/>
          </a:xfrm>
          <a:prstGeom prst="rect">
            <a:avLst/>
          </a:prstGeom>
        </p:spPr>
      </p:pic>
    </p:spTree>
    <p:extLst>
      <p:ext uri="{BB962C8B-B14F-4D97-AF65-F5344CB8AC3E}">
        <p14:creationId xmlns:p14="http://schemas.microsoft.com/office/powerpoint/2010/main" val="1789496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14066E3-A849-CAE7-F697-4F367DCFDA07}"/>
              </a:ext>
            </a:extLst>
          </p:cNvPr>
          <p:cNvPicPr>
            <a:picLocks noChangeAspect="1"/>
          </p:cNvPicPr>
          <p:nvPr/>
        </p:nvPicPr>
        <p:blipFill>
          <a:blip r:embed="rId2">
            <a:duotone>
              <a:schemeClr val="accent1">
                <a:shade val="45000"/>
                <a:satMod val="135000"/>
              </a:schemeClr>
              <a:prstClr val="white"/>
            </a:duotone>
            <a:alphaModFix amt="22000"/>
            <a:extLst>
              <a:ext uri="{28A0092B-C50C-407E-A947-70E740481C1C}">
                <a14:useLocalDpi xmlns:a14="http://schemas.microsoft.com/office/drawing/2010/main" val="0"/>
              </a:ext>
            </a:extLst>
          </a:blip>
          <a:srcRect r="3388"/>
          <a:stretch>
            <a:fillRect/>
          </a:stretch>
        </p:blipFill>
        <p:spPr>
          <a:xfrm>
            <a:off x="0" y="0"/>
            <a:ext cx="9940954" cy="6858000"/>
          </a:xfrm>
          <a:prstGeom prst="rect">
            <a:avLst/>
          </a:prstGeom>
        </p:spPr>
      </p:pic>
      <p:sp>
        <p:nvSpPr>
          <p:cNvPr id="2" name="Title 1">
            <a:extLst>
              <a:ext uri="{FF2B5EF4-FFF2-40B4-BE49-F238E27FC236}">
                <a16:creationId xmlns:a16="http://schemas.microsoft.com/office/drawing/2014/main" id="{21C6D4D1-1D74-C2C8-F885-9F684B39F86C}"/>
              </a:ext>
            </a:extLst>
          </p:cNvPr>
          <p:cNvSpPr>
            <a:spLocks noGrp="1"/>
          </p:cNvSpPr>
          <p:nvPr>
            <p:ph type="title"/>
          </p:nvPr>
        </p:nvSpPr>
        <p:spPr>
          <a:xfrm>
            <a:off x="677334" y="609599"/>
            <a:ext cx="8596668" cy="727587"/>
          </a:xfrm>
        </p:spPr>
        <p:txBody>
          <a:bodyPr>
            <a:normAutofit/>
          </a:bodyPr>
          <a:lstStyle/>
          <a:p>
            <a:r>
              <a:rPr lang="en-IN" noProof="0" dirty="0"/>
              <a:t>Presentation Structure</a:t>
            </a:r>
          </a:p>
        </p:txBody>
      </p:sp>
      <p:graphicFrame>
        <p:nvGraphicFramePr>
          <p:cNvPr id="19" name="Diagram 18">
            <a:extLst>
              <a:ext uri="{FF2B5EF4-FFF2-40B4-BE49-F238E27FC236}">
                <a16:creationId xmlns:a16="http://schemas.microsoft.com/office/drawing/2014/main" id="{FC27D860-A339-F837-F772-D77C081168BE}"/>
              </a:ext>
            </a:extLst>
          </p:cNvPr>
          <p:cNvGraphicFramePr/>
          <p:nvPr>
            <p:extLst>
              <p:ext uri="{D42A27DB-BD31-4B8C-83A1-F6EECF244321}">
                <p14:modId xmlns:p14="http://schemas.microsoft.com/office/powerpoint/2010/main" val="2439049337"/>
              </p:ext>
            </p:extLst>
          </p:nvPr>
        </p:nvGraphicFramePr>
        <p:xfrm>
          <a:off x="677334" y="1638107"/>
          <a:ext cx="8596668" cy="44587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6980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2428D-6DC9-7592-E774-495D7B69D757}"/>
              </a:ext>
            </a:extLst>
          </p:cNvPr>
          <p:cNvSpPr>
            <a:spLocks noGrp="1"/>
          </p:cNvSpPr>
          <p:nvPr>
            <p:ph type="title"/>
          </p:nvPr>
        </p:nvSpPr>
        <p:spPr>
          <a:xfrm>
            <a:off x="677334" y="609600"/>
            <a:ext cx="8596668" cy="727587"/>
          </a:xfrm>
        </p:spPr>
        <p:txBody>
          <a:bodyPr/>
          <a:lstStyle/>
          <a:p>
            <a:r>
              <a:rPr lang="en-US" dirty="0"/>
              <a:t>Overview</a:t>
            </a:r>
            <a:endParaRPr lang="en-IN" dirty="0"/>
          </a:p>
        </p:txBody>
      </p:sp>
      <p:sp>
        <p:nvSpPr>
          <p:cNvPr id="3" name="TextBox 2">
            <a:extLst>
              <a:ext uri="{FF2B5EF4-FFF2-40B4-BE49-F238E27FC236}">
                <a16:creationId xmlns:a16="http://schemas.microsoft.com/office/drawing/2014/main" id="{6A2423C7-BE1F-8A66-A27F-C490691B39A0}"/>
              </a:ext>
            </a:extLst>
          </p:cNvPr>
          <p:cNvSpPr txBox="1"/>
          <p:nvPr/>
        </p:nvSpPr>
        <p:spPr>
          <a:xfrm>
            <a:off x="737937" y="1796716"/>
            <a:ext cx="5855368" cy="1323439"/>
          </a:xfrm>
          <a:prstGeom prst="rect">
            <a:avLst/>
          </a:prstGeom>
          <a:noFill/>
        </p:spPr>
        <p:txBody>
          <a:bodyPr wrap="square" rtlCol="0">
            <a:spAutoFit/>
          </a:bodyPr>
          <a:lstStyle/>
          <a:p>
            <a:r>
              <a:rPr lang="en-US" sz="2000" b="1" dirty="0"/>
              <a:t>Problem: </a:t>
            </a:r>
            <a:r>
              <a:rPr lang="en-US" sz="2000" dirty="0"/>
              <a:t>Student grade data in its raw form is high- dimensional, making it hard to find underlying unique student clusters with basic analysis.</a:t>
            </a:r>
            <a:endParaRPr lang="en-IN" sz="2000" b="1" dirty="0"/>
          </a:p>
        </p:txBody>
      </p:sp>
      <p:sp>
        <p:nvSpPr>
          <p:cNvPr id="4" name="TextBox 3">
            <a:extLst>
              <a:ext uri="{FF2B5EF4-FFF2-40B4-BE49-F238E27FC236}">
                <a16:creationId xmlns:a16="http://schemas.microsoft.com/office/drawing/2014/main" id="{C2AC5362-42A7-CBBD-7DE5-F6C170A44B05}"/>
              </a:ext>
            </a:extLst>
          </p:cNvPr>
          <p:cNvSpPr txBox="1"/>
          <p:nvPr/>
        </p:nvSpPr>
        <p:spPr>
          <a:xfrm>
            <a:off x="737937" y="3337736"/>
            <a:ext cx="5855368" cy="1631216"/>
          </a:xfrm>
          <a:prstGeom prst="rect">
            <a:avLst/>
          </a:prstGeom>
          <a:noFill/>
        </p:spPr>
        <p:txBody>
          <a:bodyPr wrap="square" rtlCol="0">
            <a:spAutoFit/>
          </a:bodyPr>
          <a:lstStyle/>
          <a:p>
            <a:r>
              <a:rPr lang="en-US" sz="2000" b="1" dirty="0"/>
              <a:t>Objective: </a:t>
            </a:r>
            <a:r>
              <a:rPr lang="en-US" sz="2000" dirty="0"/>
              <a:t>Applying dimensionality reduction techniques like Principal Component Analysis (PCA) and t-SNE, plotting the results to identify clusters, comparing the results of PCA &amp; t-SNE and lastly providing actionable insights.</a:t>
            </a:r>
            <a:endParaRPr lang="en-IN" sz="2000" b="1" dirty="0"/>
          </a:p>
        </p:txBody>
      </p:sp>
      <p:pic>
        <p:nvPicPr>
          <p:cNvPr id="21" name="Picture 20">
            <a:extLst>
              <a:ext uri="{FF2B5EF4-FFF2-40B4-BE49-F238E27FC236}">
                <a16:creationId xmlns:a16="http://schemas.microsoft.com/office/drawing/2014/main" id="{BBD1A153-388D-B804-4516-75B7FCF5A03A}"/>
              </a:ext>
            </a:extLst>
          </p:cNvPr>
          <p:cNvPicPr>
            <a:picLocks noChangeAspect="1"/>
          </p:cNvPicPr>
          <p:nvPr/>
        </p:nvPicPr>
        <p:blipFill>
          <a:blip r:embed="rId2">
            <a:duotone>
              <a:srgbClr val="90C226">
                <a:shade val="45000"/>
                <a:satMod val="135000"/>
              </a:srgbClr>
              <a:prstClr val="white"/>
            </a:duotone>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6007367" y="1172756"/>
            <a:ext cx="4298045" cy="4298045"/>
          </a:xfrm>
          <a:prstGeom prst="rect">
            <a:avLst/>
          </a:prstGeom>
        </p:spPr>
      </p:pic>
    </p:spTree>
    <p:extLst>
      <p:ext uri="{BB962C8B-B14F-4D97-AF65-F5344CB8AC3E}">
        <p14:creationId xmlns:p14="http://schemas.microsoft.com/office/powerpoint/2010/main" val="2253030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9664A-6328-EFE2-2CE6-4EEEDDEA1357}"/>
              </a:ext>
            </a:extLst>
          </p:cNvPr>
          <p:cNvSpPr>
            <a:spLocks noGrp="1"/>
          </p:cNvSpPr>
          <p:nvPr>
            <p:ph type="title"/>
          </p:nvPr>
        </p:nvSpPr>
        <p:spPr/>
        <p:txBody>
          <a:bodyPr/>
          <a:lstStyle/>
          <a:p>
            <a:r>
              <a:rPr lang="en-US" dirty="0"/>
              <a:t>Introduction to Dataset</a:t>
            </a:r>
            <a:endParaRPr lang="en-IN" dirty="0"/>
          </a:p>
        </p:txBody>
      </p:sp>
      <p:pic>
        <p:nvPicPr>
          <p:cNvPr id="4" name="Picture 3">
            <a:extLst>
              <a:ext uri="{FF2B5EF4-FFF2-40B4-BE49-F238E27FC236}">
                <a16:creationId xmlns:a16="http://schemas.microsoft.com/office/drawing/2014/main" id="{88419200-8106-79DD-9313-B5E195762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618997"/>
            <a:ext cx="5115639" cy="1810003"/>
          </a:xfrm>
          <a:prstGeom prst="rect">
            <a:avLst/>
          </a:prstGeom>
        </p:spPr>
      </p:pic>
      <p:sp>
        <p:nvSpPr>
          <p:cNvPr id="5" name="TextBox 4">
            <a:extLst>
              <a:ext uri="{FF2B5EF4-FFF2-40B4-BE49-F238E27FC236}">
                <a16:creationId xmlns:a16="http://schemas.microsoft.com/office/drawing/2014/main" id="{8DBAF977-48E1-9908-FE0C-AE8EC7936A0B}"/>
              </a:ext>
            </a:extLst>
          </p:cNvPr>
          <p:cNvSpPr txBox="1"/>
          <p:nvPr/>
        </p:nvSpPr>
        <p:spPr>
          <a:xfrm>
            <a:off x="6549626" y="2010251"/>
            <a:ext cx="5899635" cy="3570208"/>
          </a:xfrm>
          <a:prstGeom prst="rect">
            <a:avLst/>
          </a:prstGeom>
          <a:noFill/>
        </p:spPr>
        <p:txBody>
          <a:bodyPr wrap="square" rtlCol="0">
            <a:spAutoFit/>
          </a:bodyPr>
          <a:lstStyle/>
          <a:p>
            <a:r>
              <a:rPr lang="en-US" sz="1600" b="1" dirty="0">
                <a:solidFill>
                  <a:schemeClr val="tx1">
                    <a:lumMod val="95000"/>
                    <a:lumOff val="5000"/>
                  </a:schemeClr>
                </a:solidFill>
              </a:rPr>
              <a:t>Number of rows (student entries): </a:t>
            </a:r>
            <a:r>
              <a:rPr lang="en-US" sz="1600" dirty="0">
                <a:solidFill>
                  <a:schemeClr val="tx1">
                    <a:lumMod val="95000"/>
                    <a:lumOff val="5000"/>
                  </a:schemeClr>
                </a:solidFill>
              </a:rPr>
              <a:t>100</a:t>
            </a:r>
          </a:p>
          <a:p>
            <a:r>
              <a:rPr lang="en-US" sz="1600" dirty="0">
                <a:solidFill>
                  <a:schemeClr val="tx1">
                    <a:lumMod val="95000"/>
                    <a:lumOff val="5000"/>
                  </a:schemeClr>
                </a:solidFill>
              </a:rPr>
              <a:t>Number of columns: 8</a:t>
            </a:r>
          </a:p>
          <a:p>
            <a:endParaRPr lang="en-US" sz="1600" dirty="0">
              <a:solidFill>
                <a:schemeClr val="tx1">
                  <a:lumMod val="95000"/>
                  <a:lumOff val="5000"/>
                </a:schemeClr>
              </a:solidFill>
            </a:endParaRPr>
          </a:p>
          <a:p>
            <a:r>
              <a:rPr lang="en-US" sz="1600" b="1" dirty="0">
                <a:solidFill>
                  <a:schemeClr val="tx1">
                    <a:lumMod val="95000"/>
                    <a:lumOff val="5000"/>
                  </a:schemeClr>
                </a:solidFill>
              </a:rPr>
              <a:t>Columns:</a:t>
            </a:r>
          </a:p>
          <a:p>
            <a:r>
              <a:rPr lang="en-US" sz="1600" dirty="0">
                <a:solidFill>
                  <a:schemeClr val="tx1">
                    <a:lumMod val="95000"/>
                    <a:lumOff val="5000"/>
                  </a:schemeClr>
                </a:solidFill>
              </a:rPr>
              <a:t>“</a:t>
            </a:r>
            <a:r>
              <a:rPr lang="en-US" sz="1600" i="1" dirty="0">
                <a:solidFill>
                  <a:schemeClr val="tx1">
                    <a:lumMod val="95000"/>
                    <a:lumOff val="5000"/>
                  </a:schemeClr>
                </a:solidFill>
              </a:rPr>
              <a:t>student_id</a:t>
            </a:r>
            <a:r>
              <a:rPr lang="en-US" sz="1600" dirty="0">
                <a:solidFill>
                  <a:schemeClr val="tx1">
                    <a:lumMod val="95000"/>
                    <a:lumOff val="5000"/>
                  </a:schemeClr>
                </a:solidFill>
              </a:rPr>
              <a:t>”: Unique identifier for each student</a:t>
            </a:r>
          </a:p>
          <a:p>
            <a:r>
              <a:rPr lang="en-US" sz="1600" dirty="0">
                <a:solidFill>
                  <a:schemeClr val="tx1">
                    <a:lumMod val="95000"/>
                    <a:lumOff val="5000"/>
                  </a:schemeClr>
                </a:solidFill>
              </a:rPr>
              <a:t>“</a:t>
            </a:r>
            <a:r>
              <a:rPr lang="en-US" sz="1600" i="1" dirty="0">
                <a:solidFill>
                  <a:schemeClr val="tx1">
                    <a:lumMod val="95000"/>
                    <a:lumOff val="5000"/>
                  </a:schemeClr>
                </a:solidFill>
              </a:rPr>
              <a:t>math</a:t>
            </a:r>
            <a:r>
              <a:rPr lang="en-US" sz="1600" dirty="0">
                <a:solidFill>
                  <a:schemeClr val="tx1">
                    <a:lumMod val="95000"/>
                    <a:lumOff val="5000"/>
                  </a:schemeClr>
                </a:solidFill>
              </a:rPr>
              <a:t>”: Grades in math</a:t>
            </a:r>
          </a:p>
          <a:p>
            <a:r>
              <a:rPr lang="en-US" sz="1600" dirty="0">
                <a:solidFill>
                  <a:schemeClr val="tx1">
                    <a:lumMod val="95000"/>
                    <a:lumOff val="5000"/>
                  </a:schemeClr>
                </a:solidFill>
              </a:rPr>
              <a:t>“</a:t>
            </a:r>
            <a:r>
              <a:rPr lang="en-US" sz="1600" i="1" dirty="0">
                <a:solidFill>
                  <a:schemeClr val="tx1">
                    <a:lumMod val="95000"/>
                    <a:lumOff val="5000"/>
                  </a:schemeClr>
                </a:solidFill>
              </a:rPr>
              <a:t>science</a:t>
            </a:r>
            <a:r>
              <a:rPr lang="en-US" sz="1600" dirty="0">
                <a:solidFill>
                  <a:schemeClr val="tx1">
                    <a:lumMod val="95000"/>
                    <a:lumOff val="5000"/>
                  </a:schemeClr>
                </a:solidFill>
              </a:rPr>
              <a:t>”: Grades in science</a:t>
            </a:r>
            <a:endParaRPr lang="en-IN" sz="1600" dirty="0">
              <a:solidFill>
                <a:schemeClr val="tx1">
                  <a:lumMod val="95000"/>
                  <a:lumOff val="5000"/>
                </a:schemeClr>
              </a:solidFill>
            </a:endParaRPr>
          </a:p>
          <a:p>
            <a:r>
              <a:rPr lang="en-US" sz="1600" dirty="0">
                <a:solidFill>
                  <a:schemeClr val="tx1">
                    <a:lumMod val="95000"/>
                    <a:lumOff val="5000"/>
                  </a:schemeClr>
                </a:solidFill>
              </a:rPr>
              <a:t>“</a:t>
            </a:r>
            <a:r>
              <a:rPr lang="en-US" sz="1600" i="1" dirty="0">
                <a:solidFill>
                  <a:schemeClr val="tx1">
                    <a:lumMod val="95000"/>
                    <a:lumOff val="5000"/>
                  </a:schemeClr>
                </a:solidFill>
              </a:rPr>
              <a:t>cs</a:t>
            </a:r>
            <a:r>
              <a:rPr lang="en-US" sz="1600" dirty="0">
                <a:solidFill>
                  <a:schemeClr val="tx1">
                    <a:lumMod val="95000"/>
                    <a:lumOff val="5000"/>
                  </a:schemeClr>
                </a:solidFill>
              </a:rPr>
              <a:t>”: Grades in computer science</a:t>
            </a:r>
            <a:endParaRPr lang="en-IN" sz="1600" dirty="0">
              <a:solidFill>
                <a:schemeClr val="tx1">
                  <a:lumMod val="95000"/>
                  <a:lumOff val="5000"/>
                </a:schemeClr>
              </a:solidFill>
            </a:endParaRPr>
          </a:p>
          <a:p>
            <a:r>
              <a:rPr lang="en-US" sz="1600" dirty="0">
                <a:solidFill>
                  <a:schemeClr val="tx1">
                    <a:lumMod val="95000"/>
                    <a:lumOff val="5000"/>
                  </a:schemeClr>
                </a:solidFill>
              </a:rPr>
              <a:t>“</a:t>
            </a:r>
            <a:r>
              <a:rPr lang="en-US" sz="1600" i="1" dirty="0">
                <a:solidFill>
                  <a:schemeClr val="tx1">
                    <a:lumMod val="95000"/>
                    <a:lumOff val="5000"/>
                  </a:schemeClr>
                </a:solidFill>
              </a:rPr>
              <a:t>band</a:t>
            </a:r>
            <a:r>
              <a:rPr lang="en-US" sz="1600" dirty="0">
                <a:solidFill>
                  <a:schemeClr val="tx1">
                    <a:lumMod val="95000"/>
                    <a:lumOff val="5000"/>
                  </a:schemeClr>
                </a:solidFill>
              </a:rPr>
              <a:t>”: Grades in band</a:t>
            </a:r>
            <a:endParaRPr lang="en-IN" sz="1600" dirty="0">
              <a:solidFill>
                <a:schemeClr val="tx1">
                  <a:lumMod val="95000"/>
                  <a:lumOff val="5000"/>
                </a:schemeClr>
              </a:solidFill>
            </a:endParaRPr>
          </a:p>
          <a:p>
            <a:r>
              <a:rPr lang="en-US" sz="1600" dirty="0">
                <a:solidFill>
                  <a:schemeClr val="tx1">
                    <a:lumMod val="95000"/>
                    <a:lumOff val="5000"/>
                  </a:schemeClr>
                </a:solidFill>
              </a:rPr>
              <a:t>“</a:t>
            </a:r>
            <a:r>
              <a:rPr lang="en-US" sz="1600" i="1" dirty="0">
                <a:solidFill>
                  <a:schemeClr val="tx1">
                    <a:lumMod val="95000"/>
                    <a:lumOff val="5000"/>
                  </a:schemeClr>
                </a:solidFill>
              </a:rPr>
              <a:t>english</a:t>
            </a:r>
            <a:r>
              <a:rPr lang="en-US" sz="1600" dirty="0">
                <a:solidFill>
                  <a:schemeClr val="tx1">
                    <a:lumMod val="95000"/>
                    <a:lumOff val="5000"/>
                  </a:schemeClr>
                </a:solidFill>
              </a:rPr>
              <a:t>”: Grades in English</a:t>
            </a:r>
            <a:endParaRPr lang="en-IN" sz="1600" dirty="0">
              <a:solidFill>
                <a:schemeClr val="tx1">
                  <a:lumMod val="95000"/>
                  <a:lumOff val="5000"/>
                </a:schemeClr>
              </a:solidFill>
            </a:endParaRPr>
          </a:p>
          <a:p>
            <a:r>
              <a:rPr lang="en-US" sz="1600" dirty="0">
                <a:solidFill>
                  <a:schemeClr val="tx1">
                    <a:lumMod val="95000"/>
                    <a:lumOff val="5000"/>
                  </a:schemeClr>
                </a:solidFill>
              </a:rPr>
              <a:t>“</a:t>
            </a:r>
            <a:r>
              <a:rPr lang="en-US" sz="1600" i="1" dirty="0">
                <a:solidFill>
                  <a:schemeClr val="tx1">
                    <a:lumMod val="95000"/>
                    <a:lumOff val="5000"/>
                  </a:schemeClr>
                </a:solidFill>
              </a:rPr>
              <a:t>history</a:t>
            </a:r>
            <a:r>
              <a:rPr lang="en-US" sz="1600" dirty="0">
                <a:solidFill>
                  <a:schemeClr val="tx1">
                    <a:lumMod val="95000"/>
                    <a:lumOff val="5000"/>
                  </a:schemeClr>
                </a:solidFill>
              </a:rPr>
              <a:t>”: Grades in history</a:t>
            </a:r>
            <a:endParaRPr lang="en-IN" sz="1600" dirty="0">
              <a:solidFill>
                <a:schemeClr val="tx1">
                  <a:lumMod val="95000"/>
                  <a:lumOff val="5000"/>
                </a:schemeClr>
              </a:solidFill>
            </a:endParaRPr>
          </a:p>
          <a:p>
            <a:r>
              <a:rPr lang="en-US" sz="1600" dirty="0">
                <a:solidFill>
                  <a:schemeClr val="tx1">
                    <a:lumMod val="95000"/>
                    <a:lumOff val="5000"/>
                  </a:schemeClr>
                </a:solidFill>
              </a:rPr>
              <a:t>“</a:t>
            </a:r>
            <a:r>
              <a:rPr lang="en-US" sz="1600" i="1" dirty="0">
                <a:solidFill>
                  <a:schemeClr val="tx1">
                    <a:lumMod val="95000"/>
                    <a:lumOff val="5000"/>
                  </a:schemeClr>
                </a:solidFill>
              </a:rPr>
              <a:t>spanish</a:t>
            </a:r>
            <a:r>
              <a:rPr lang="en-US" sz="1600" dirty="0">
                <a:solidFill>
                  <a:schemeClr val="tx1">
                    <a:lumMod val="95000"/>
                    <a:lumOff val="5000"/>
                  </a:schemeClr>
                </a:solidFill>
              </a:rPr>
              <a:t>”: Grades in Spanish</a:t>
            </a:r>
            <a:endParaRPr lang="en-IN" sz="1600" dirty="0">
              <a:solidFill>
                <a:schemeClr val="tx1">
                  <a:lumMod val="95000"/>
                  <a:lumOff val="5000"/>
                </a:schemeClr>
              </a:solidFill>
            </a:endParaRPr>
          </a:p>
          <a:p>
            <a:r>
              <a:rPr lang="en-US" sz="1600" dirty="0">
                <a:solidFill>
                  <a:schemeClr val="tx1">
                    <a:lumMod val="95000"/>
                    <a:lumOff val="5000"/>
                  </a:schemeClr>
                </a:solidFill>
              </a:rPr>
              <a:t>“</a:t>
            </a:r>
            <a:r>
              <a:rPr lang="en-US" sz="1600" i="1" dirty="0">
                <a:solidFill>
                  <a:schemeClr val="tx1">
                    <a:lumMod val="95000"/>
                    <a:lumOff val="5000"/>
                  </a:schemeClr>
                </a:solidFill>
              </a:rPr>
              <a:t>physed</a:t>
            </a:r>
            <a:r>
              <a:rPr lang="en-US" sz="1600" dirty="0">
                <a:solidFill>
                  <a:schemeClr val="tx1">
                    <a:lumMod val="95000"/>
                    <a:lumOff val="5000"/>
                  </a:schemeClr>
                </a:solidFill>
              </a:rPr>
              <a:t>”: Grades in physical education</a:t>
            </a:r>
            <a:endParaRPr lang="en-IN" sz="1600" dirty="0">
              <a:solidFill>
                <a:schemeClr val="tx1">
                  <a:lumMod val="95000"/>
                  <a:lumOff val="5000"/>
                </a:schemeClr>
              </a:solidFill>
            </a:endParaRPr>
          </a:p>
          <a:p>
            <a:endParaRPr lang="en-IN" dirty="0">
              <a:solidFill>
                <a:schemeClr val="tx1">
                  <a:lumMod val="95000"/>
                  <a:lumOff val="5000"/>
                </a:schemeClr>
              </a:solidFill>
              <a:latin typeface="Baskerville Old Face" panose="02020602080505020303" pitchFamily="18" charset="0"/>
            </a:endParaRPr>
          </a:p>
        </p:txBody>
      </p:sp>
      <p:pic>
        <p:nvPicPr>
          <p:cNvPr id="9" name="Graphic 8" descr="Paperclip with solid fill">
            <a:extLst>
              <a:ext uri="{FF2B5EF4-FFF2-40B4-BE49-F238E27FC236}">
                <a16:creationId xmlns:a16="http://schemas.microsoft.com/office/drawing/2014/main" id="{CD4ED270-1172-DBD5-57B1-D9F157E547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435763">
            <a:off x="6070214" y="1911992"/>
            <a:ext cx="546524" cy="546524"/>
          </a:xfrm>
          <a:prstGeom prst="rect">
            <a:avLst/>
          </a:prstGeom>
        </p:spPr>
      </p:pic>
      <p:pic>
        <p:nvPicPr>
          <p:cNvPr id="10" name="Graphic 9" descr="Paperclip with solid fill">
            <a:extLst>
              <a:ext uri="{FF2B5EF4-FFF2-40B4-BE49-F238E27FC236}">
                <a16:creationId xmlns:a16="http://schemas.microsoft.com/office/drawing/2014/main" id="{332CB6AE-1DBC-F623-DB24-A6A972F1D3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435763">
            <a:off x="6019361" y="2633216"/>
            <a:ext cx="546524" cy="546524"/>
          </a:xfrm>
          <a:prstGeom prst="rect">
            <a:avLst/>
          </a:prstGeom>
        </p:spPr>
      </p:pic>
      <p:pic>
        <p:nvPicPr>
          <p:cNvPr id="6" name="Picture 5">
            <a:extLst>
              <a:ext uri="{FF2B5EF4-FFF2-40B4-BE49-F238E27FC236}">
                <a16:creationId xmlns:a16="http://schemas.microsoft.com/office/drawing/2014/main" id="{A2D65896-C5CB-F182-5393-1DAFA3184A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3526" y="3694246"/>
            <a:ext cx="4648849" cy="1886213"/>
          </a:xfrm>
          <a:prstGeom prst="rect">
            <a:avLst/>
          </a:prstGeom>
        </p:spPr>
      </p:pic>
    </p:spTree>
    <p:extLst>
      <p:ext uri="{BB962C8B-B14F-4D97-AF65-F5344CB8AC3E}">
        <p14:creationId xmlns:p14="http://schemas.microsoft.com/office/powerpoint/2010/main" val="3501224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D7A87-6694-FF0A-0366-04AB26562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33F9C-19AF-A7AA-CA4B-57A2F4F0CEE1}"/>
              </a:ext>
            </a:extLst>
          </p:cNvPr>
          <p:cNvSpPr>
            <a:spLocks noGrp="1"/>
          </p:cNvSpPr>
          <p:nvPr>
            <p:ph type="title"/>
          </p:nvPr>
        </p:nvSpPr>
        <p:spPr/>
        <p:txBody>
          <a:bodyPr/>
          <a:lstStyle/>
          <a:p>
            <a:r>
              <a:rPr lang="en-US" dirty="0"/>
              <a:t>Data Cleaning &amp; Preprocessing</a:t>
            </a:r>
            <a:endParaRPr lang="en-IN" dirty="0"/>
          </a:p>
        </p:txBody>
      </p:sp>
      <p:sp>
        <p:nvSpPr>
          <p:cNvPr id="5" name="TextBox 4">
            <a:extLst>
              <a:ext uri="{FF2B5EF4-FFF2-40B4-BE49-F238E27FC236}">
                <a16:creationId xmlns:a16="http://schemas.microsoft.com/office/drawing/2014/main" id="{7D68472B-4F71-F3AC-729B-72EE215C02FF}"/>
              </a:ext>
            </a:extLst>
          </p:cNvPr>
          <p:cNvSpPr txBox="1"/>
          <p:nvPr/>
        </p:nvSpPr>
        <p:spPr>
          <a:xfrm>
            <a:off x="3538417" y="2526917"/>
            <a:ext cx="5899635" cy="1661993"/>
          </a:xfrm>
          <a:prstGeom prst="rect">
            <a:avLst/>
          </a:prstGeom>
          <a:noFill/>
        </p:spPr>
        <p:txBody>
          <a:bodyPr wrap="square" rtlCol="0">
            <a:spAutoFit/>
          </a:bodyPr>
          <a:lstStyle/>
          <a:p>
            <a:r>
              <a:rPr lang="en-US" sz="1600" b="1" dirty="0">
                <a:solidFill>
                  <a:schemeClr val="tx1">
                    <a:lumMod val="95000"/>
                    <a:lumOff val="5000"/>
                  </a:schemeClr>
                </a:solidFill>
              </a:rPr>
              <a:t>Duplicate Handling: </a:t>
            </a:r>
            <a:r>
              <a:rPr lang="en-US" dirty="0"/>
              <a:t>In this case there are no duplicates in the dataset; treatment of duplicates was not required.</a:t>
            </a:r>
            <a:endParaRPr lang="en-US" sz="1600" dirty="0">
              <a:solidFill>
                <a:schemeClr val="tx1">
                  <a:lumMod val="95000"/>
                  <a:lumOff val="5000"/>
                </a:schemeClr>
              </a:solidFill>
            </a:endParaRPr>
          </a:p>
          <a:p>
            <a:endParaRPr lang="en-US" sz="1600" dirty="0">
              <a:solidFill>
                <a:schemeClr val="tx1">
                  <a:lumMod val="95000"/>
                  <a:lumOff val="5000"/>
                </a:schemeClr>
              </a:solidFill>
            </a:endParaRPr>
          </a:p>
          <a:p>
            <a:r>
              <a:rPr lang="en-IN" sz="1600" b="1" dirty="0"/>
              <a:t>Data Quality Assessment: </a:t>
            </a:r>
            <a:r>
              <a:rPr lang="en-IN" sz="1600" dirty="0"/>
              <a:t>No missing values were found in the dataset.</a:t>
            </a:r>
            <a:endParaRPr lang="en-IN" dirty="0">
              <a:solidFill>
                <a:schemeClr val="tx1">
                  <a:lumMod val="95000"/>
                  <a:lumOff val="5000"/>
                </a:schemeClr>
              </a:solidFill>
              <a:latin typeface="Baskerville Old Face" panose="02020602080505020303" pitchFamily="18" charset="0"/>
            </a:endParaRPr>
          </a:p>
        </p:txBody>
      </p:sp>
      <p:pic>
        <p:nvPicPr>
          <p:cNvPr id="6" name="Picture 5">
            <a:extLst>
              <a:ext uri="{FF2B5EF4-FFF2-40B4-BE49-F238E27FC236}">
                <a16:creationId xmlns:a16="http://schemas.microsoft.com/office/drawing/2014/main" id="{FBC6F57B-A1B4-C853-DD96-EAE7B26C0D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875" y="2047833"/>
            <a:ext cx="1871544" cy="2620162"/>
          </a:xfrm>
          <a:prstGeom prst="rect">
            <a:avLst/>
          </a:prstGeom>
        </p:spPr>
      </p:pic>
      <p:pic>
        <p:nvPicPr>
          <p:cNvPr id="8" name="Picture 7">
            <a:extLst>
              <a:ext uri="{FF2B5EF4-FFF2-40B4-BE49-F238E27FC236}">
                <a16:creationId xmlns:a16="http://schemas.microsoft.com/office/drawing/2014/main" id="{9FF93253-9DF3-255D-D6EE-D8A14BAC2B8F}"/>
              </a:ext>
            </a:extLst>
          </p:cNvPr>
          <p:cNvPicPr>
            <a:picLocks noChangeAspect="1"/>
          </p:cNvPicPr>
          <p:nvPr/>
        </p:nvPicPr>
        <p:blipFill>
          <a:blip r:embed="rId3">
            <a:extLst>
              <a:ext uri="{28A0092B-C50C-407E-A947-70E740481C1C}">
                <a14:useLocalDpi xmlns:a14="http://schemas.microsoft.com/office/drawing/2010/main" val="0"/>
              </a:ext>
            </a:extLst>
          </a:blip>
          <a:srcRect t="9464"/>
          <a:stretch>
            <a:fillRect/>
          </a:stretch>
        </p:blipFill>
        <p:spPr>
          <a:xfrm>
            <a:off x="677334" y="1306257"/>
            <a:ext cx="5285316" cy="741576"/>
          </a:xfrm>
          <a:prstGeom prst="rect">
            <a:avLst/>
          </a:prstGeom>
        </p:spPr>
      </p:pic>
      <p:pic>
        <p:nvPicPr>
          <p:cNvPr id="9" name="Graphic 8" descr="Magnifying glass with solid fill">
            <a:extLst>
              <a:ext uri="{FF2B5EF4-FFF2-40B4-BE49-F238E27FC236}">
                <a16:creationId xmlns:a16="http://schemas.microsoft.com/office/drawing/2014/main" id="{6577DAFF-45A6-85CA-6656-123EABAF9A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63799" y="3509254"/>
            <a:ext cx="574618" cy="574618"/>
          </a:xfrm>
          <a:prstGeom prst="rect">
            <a:avLst/>
          </a:prstGeom>
        </p:spPr>
      </p:pic>
      <p:pic>
        <p:nvPicPr>
          <p:cNvPr id="10" name="Graphic 9" descr="Magnifying glass with solid fill">
            <a:extLst>
              <a:ext uri="{FF2B5EF4-FFF2-40B4-BE49-F238E27FC236}">
                <a16:creationId xmlns:a16="http://schemas.microsoft.com/office/drawing/2014/main" id="{CC2AB063-FD1A-2B56-33CE-F322704B908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63799" y="2544217"/>
            <a:ext cx="574618" cy="574618"/>
          </a:xfrm>
          <a:prstGeom prst="rect">
            <a:avLst/>
          </a:prstGeom>
        </p:spPr>
      </p:pic>
      <p:pic>
        <p:nvPicPr>
          <p:cNvPr id="3" name="Picture 2">
            <a:extLst>
              <a:ext uri="{FF2B5EF4-FFF2-40B4-BE49-F238E27FC236}">
                <a16:creationId xmlns:a16="http://schemas.microsoft.com/office/drawing/2014/main" id="{90657708-4CEA-F467-D799-3D636DB07B38}"/>
              </a:ext>
            </a:extLst>
          </p:cNvPr>
          <p:cNvPicPr>
            <a:picLocks noChangeAspect="1"/>
          </p:cNvPicPr>
          <p:nvPr/>
        </p:nvPicPr>
        <p:blipFill>
          <a:blip r:embed="rId6">
            <a:extLst>
              <a:ext uri="{28A0092B-C50C-407E-A947-70E740481C1C}">
                <a14:useLocalDpi xmlns:a14="http://schemas.microsoft.com/office/drawing/2010/main" val="0"/>
              </a:ext>
            </a:extLst>
          </a:blip>
          <a:srcRect b="21900"/>
          <a:stretch>
            <a:fillRect/>
          </a:stretch>
        </p:blipFill>
        <p:spPr>
          <a:xfrm>
            <a:off x="697875" y="4785428"/>
            <a:ext cx="3886742" cy="1807942"/>
          </a:xfrm>
          <a:prstGeom prst="rect">
            <a:avLst/>
          </a:prstGeom>
        </p:spPr>
      </p:pic>
      <p:pic>
        <p:nvPicPr>
          <p:cNvPr id="12" name="Picture 11">
            <a:extLst>
              <a:ext uri="{FF2B5EF4-FFF2-40B4-BE49-F238E27FC236}">
                <a16:creationId xmlns:a16="http://schemas.microsoft.com/office/drawing/2014/main" id="{6CA39C40-802B-53E1-CB37-E8D5282902B0}"/>
              </a:ext>
            </a:extLst>
          </p:cNvPr>
          <p:cNvPicPr>
            <a:picLocks noChangeAspect="1"/>
          </p:cNvPicPr>
          <p:nvPr/>
        </p:nvPicPr>
        <p:blipFill>
          <a:blip r:embed="rId7">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18760461">
            <a:off x="5341452" y="5384598"/>
            <a:ext cx="609600" cy="609600"/>
          </a:xfrm>
          <a:prstGeom prst="rect">
            <a:avLst/>
          </a:prstGeom>
        </p:spPr>
      </p:pic>
      <p:sp>
        <p:nvSpPr>
          <p:cNvPr id="7" name="TextBox 6">
            <a:extLst>
              <a:ext uri="{FF2B5EF4-FFF2-40B4-BE49-F238E27FC236}">
                <a16:creationId xmlns:a16="http://schemas.microsoft.com/office/drawing/2014/main" id="{7E3E9963-00EC-04D3-0CE5-C99C3B4C8F3E}"/>
              </a:ext>
            </a:extLst>
          </p:cNvPr>
          <p:cNvSpPr txBox="1"/>
          <p:nvPr/>
        </p:nvSpPr>
        <p:spPr>
          <a:xfrm>
            <a:off x="5962650" y="5397011"/>
            <a:ext cx="6105524" cy="584775"/>
          </a:xfrm>
          <a:prstGeom prst="rect">
            <a:avLst/>
          </a:prstGeom>
          <a:noFill/>
        </p:spPr>
        <p:txBody>
          <a:bodyPr wrap="square">
            <a:spAutoFit/>
          </a:bodyPr>
          <a:lstStyle/>
          <a:p>
            <a:r>
              <a:rPr lang="en-US" sz="1600" dirty="0">
                <a:solidFill>
                  <a:schemeClr val="tx1">
                    <a:lumMod val="95000"/>
                    <a:lumOff val="5000"/>
                  </a:schemeClr>
                </a:solidFill>
              </a:rPr>
              <a:t>Removing column </a:t>
            </a:r>
            <a:r>
              <a:rPr lang="en-US" sz="1600" i="1" dirty="0">
                <a:solidFill>
                  <a:schemeClr val="tx1">
                    <a:lumMod val="95000"/>
                    <a:lumOff val="5000"/>
                  </a:schemeClr>
                </a:solidFill>
              </a:rPr>
              <a:t>“student_id”, </a:t>
            </a:r>
            <a:r>
              <a:rPr lang="en-US" sz="1600" dirty="0">
                <a:solidFill>
                  <a:schemeClr val="tx1">
                    <a:lumMod val="95000"/>
                    <a:lumOff val="5000"/>
                  </a:schemeClr>
                </a:solidFill>
              </a:rPr>
              <a:t>since it’s redundant for the next stages.</a:t>
            </a:r>
            <a:endParaRPr lang="en-US" sz="1600" i="1" dirty="0">
              <a:solidFill>
                <a:schemeClr val="tx1">
                  <a:lumMod val="95000"/>
                  <a:lumOff val="5000"/>
                </a:schemeClr>
              </a:solidFill>
            </a:endParaRPr>
          </a:p>
        </p:txBody>
      </p:sp>
    </p:spTree>
    <p:extLst>
      <p:ext uri="{BB962C8B-B14F-4D97-AF65-F5344CB8AC3E}">
        <p14:creationId xmlns:p14="http://schemas.microsoft.com/office/powerpoint/2010/main" val="4244704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B485A-49C9-9AE2-6029-D44871519A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1065FC-1B29-7627-7451-43125A79A4F9}"/>
              </a:ext>
            </a:extLst>
          </p:cNvPr>
          <p:cNvSpPr txBox="1"/>
          <p:nvPr/>
        </p:nvSpPr>
        <p:spPr>
          <a:xfrm>
            <a:off x="2322488" y="2870046"/>
            <a:ext cx="8197307" cy="923330"/>
          </a:xfrm>
          <a:prstGeom prst="rect">
            <a:avLst/>
          </a:prstGeom>
          <a:noFill/>
        </p:spPr>
        <p:txBody>
          <a:bodyPr wrap="square" rtlCol="0">
            <a:spAutoFit/>
          </a:bodyPr>
          <a:lstStyle/>
          <a:p>
            <a:r>
              <a:rPr lang="en-US" sz="5400" dirty="0">
                <a:solidFill>
                  <a:schemeClr val="tx2"/>
                </a:solidFill>
              </a:rPr>
              <a:t>E</a:t>
            </a:r>
            <a:r>
              <a:rPr lang="en-IN" sz="5400" dirty="0">
                <a:solidFill>
                  <a:schemeClr val="tx2"/>
                </a:solidFill>
              </a:rPr>
              <a:t>xploratory Data Analysis</a:t>
            </a:r>
            <a:endParaRPr lang="en-IN" sz="5400" noProof="0" dirty="0">
              <a:solidFill>
                <a:schemeClr val="tx2"/>
              </a:solidFill>
            </a:endParaRPr>
          </a:p>
        </p:txBody>
      </p:sp>
      <p:pic>
        <p:nvPicPr>
          <p:cNvPr id="4" name="Picture 3">
            <a:extLst>
              <a:ext uri="{FF2B5EF4-FFF2-40B4-BE49-F238E27FC236}">
                <a16:creationId xmlns:a16="http://schemas.microsoft.com/office/drawing/2014/main" id="{B78E5FD8-ECAA-1B18-5359-5FA6DC64CB8A}"/>
              </a:ext>
            </a:extLst>
          </p:cNvPr>
          <p:cNvPicPr>
            <a:picLocks noChangeAspect="1"/>
          </p:cNvPicPr>
          <p:nvPr/>
        </p:nvPicPr>
        <p:blipFill>
          <a:blip r:embed="rId2">
            <a:duotone>
              <a:schemeClr val="accent1">
                <a:shade val="45000"/>
                <a:satMod val="135000"/>
              </a:schemeClr>
              <a:prstClr val="white"/>
            </a:duotone>
            <a:alphaModFix amt="15000"/>
            <a:extLst>
              <a:ext uri="{28A0092B-C50C-407E-A947-70E740481C1C}">
                <a14:useLocalDpi xmlns:a14="http://schemas.microsoft.com/office/drawing/2010/main" val="0"/>
              </a:ext>
            </a:extLst>
          </a:blip>
          <a:srcRect r="4693"/>
          <a:stretch>
            <a:fillRect/>
          </a:stretch>
        </p:blipFill>
        <p:spPr>
          <a:xfrm>
            <a:off x="1341177" y="588401"/>
            <a:ext cx="8088573" cy="5486619"/>
          </a:xfrm>
          <a:prstGeom prst="rect">
            <a:avLst/>
          </a:prstGeom>
        </p:spPr>
      </p:pic>
    </p:spTree>
    <p:extLst>
      <p:ext uri="{BB962C8B-B14F-4D97-AF65-F5344CB8AC3E}">
        <p14:creationId xmlns:p14="http://schemas.microsoft.com/office/powerpoint/2010/main" val="171824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1181A-535F-E498-7B22-67738848E4C5}"/>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87DB312-BB37-F1A6-4ACD-3498EA8F1EE4}"/>
              </a:ext>
            </a:extLst>
          </p:cNvPr>
          <p:cNvSpPr txBox="1">
            <a:spLocks/>
          </p:cNvSpPr>
          <p:nvPr/>
        </p:nvSpPr>
        <p:spPr>
          <a:xfrm>
            <a:off x="677334" y="609601"/>
            <a:ext cx="8596668" cy="8382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Univariate Analysis : STEM</a:t>
            </a:r>
            <a:endParaRPr lang="en-IN" dirty="0"/>
          </a:p>
        </p:txBody>
      </p:sp>
      <p:sp>
        <p:nvSpPr>
          <p:cNvPr id="3" name="TextBox 2">
            <a:extLst>
              <a:ext uri="{FF2B5EF4-FFF2-40B4-BE49-F238E27FC236}">
                <a16:creationId xmlns:a16="http://schemas.microsoft.com/office/drawing/2014/main" id="{22CAB635-F78B-1FAE-9ED9-AC8506E49431}"/>
              </a:ext>
            </a:extLst>
          </p:cNvPr>
          <p:cNvSpPr txBox="1"/>
          <p:nvPr/>
        </p:nvSpPr>
        <p:spPr>
          <a:xfrm>
            <a:off x="274662" y="4289223"/>
            <a:ext cx="6098796" cy="1477328"/>
          </a:xfrm>
          <a:prstGeom prst="rect">
            <a:avLst/>
          </a:prstGeom>
          <a:noFill/>
        </p:spPr>
        <p:txBody>
          <a:bodyPr wrap="square">
            <a:spAutoFit/>
          </a:bodyPr>
          <a:lstStyle/>
          <a:p>
            <a:r>
              <a:rPr lang="en-US" b="1" i="0" dirty="0">
                <a:solidFill>
                  <a:srgbClr val="1F1F1F"/>
                </a:solidFill>
                <a:effectLst/>
                <a:latin typeface="Google Sans Text"/>
              </a:rPr>
              <a:t>Difficulty (Hard): </a:t>
            </a:r>
            <a:r>
              <a:rPr lang="en-US" b="0" i="0" dirty="0">
                <a:solidFill>
                  <a:srgbClr val="1F1F1F"/>
                </a:solidFill>
                <a:effectLst/>
                <a:latin typeface="Google Sans Text"/>
              </a:rPr>
              <a:t>Math, Science, and CS (Computer Science) have the lowest averages (approx. 52-53). These distributions are right-skewed (positive skewness), meaning most students scored on the lower end, with only a few high-achievers pulling the mean up.</a:t>
            </a:r>
            <a:endParaRPr lang="en-IN" dirty="0"/>
          </a:p>
        </p:txBody>
      </p:sp>
      <p:sp>
        <p:nvSpPr>
          <p:cNvPr id="5" name="TextBox 4">
            <a:extLst>
              <a:ext uri="{FF2B5EF4-FFF2-40B4-BE49-F238E27FC236}">
                <a16:creationId xmlns:a16="http://schemas.microsoft.com/office/drawing/2014/main" id="{76D64E1B-2B82-102F-E954-A808D59D220E}"/>
              </a:ext>
            </a:extLst>
          </p:cNvPr>
          <p:cNvSpPr txBox="1"/>
          <p:nvPr/>
        </p:nvSpPr>
        <p:spPr>
          <a:xfrm>
            <a:off x="6373458" y="4289223"/>
            <a:ext cx="5278850" cy="1754326"/>
          </a:xfrm>
          <a:prstGeom prst="rect">
            <a:avLst/>
          </a:prstGeom>
          <a:noFill/>
        </p:spPr>
        <p:txBody>
          <a:bodyPr wrap="square">
            <a:spAutoFit/>
          </a:bodyPr>
          <a:lstStyle/>
          <a:p>
            <a:r>
              <a:rPr lang="en-US" b="1" dirty="0">
                <a:solidFill>
                  <a:srgbClr val="1F1F1F"/>
                </a:solidFill>
                <a:latin typeface="Google Sans Text"/>
              </a:rPr>
              <a:t>Distribution</a:t>
            </a:r>
            <a:r>
              <a:rPr lang="en-US" b="1" i="0" dirty="0">
                <a:solidFill>
                  <a:srgbClr val="1F1F1F"/>
                </a:solidFill>
                <a:effectLst/>
                <a:latin typeface="Google Sans Text"/>
              </a:rPr>
              <a:t>:</a:t>
            </a:r>
            <a:r>
              <a:rPr lang="en-US" b="0" i="0" dirty="0">
                <a:solidFill>
                  <a:srgbClr val="1F1F1F"/>
                </a:solidFill>
                <a:effectLst/>
                <a:latin typeface="Google Sans Text"/>
              </a:rPr>
              <a:t> Math and CS</a:t>
            </a:r>
            <a:r>
              <a:rPr lang="en-US" dirty="0">
                <a:solidFill>
                  <a:srgbClr val="1F1F1F"/>
                </a:solidFill>
                <a:latin typeface="Google Sans Text"/>
              </a:rPr>
              <a:t> (Computer Science)</a:t>
            </a:r>
            <a:r>
              <a:rPr lang="en-US" b="0" i="0" dirty="0">
                <a:solidFill>
                  <a:srgbClr val="1F1F1F"/>
                </a:solidFill>
                <a:effectLst/>
                <a:latin typeface="Google Sans Text"/>
              </a:rPr>
              <a:t> have positive Kurtosis (1.32 and 1.22). This tells us that the scores are heavily concentrated around a specific "average" point with infrequent extreme outliers. It suggests a very standardized level of difficulty where most students hit a "ceiling" or "floor" together.</a:t>
            </a:r>
            <a:endParaRPr lang="en-IN" dirty="0"/>
          </a:p>
        </p:txBody>
      </p:sp>
      <p:pic>
        <p:nvPicPr>
          <p:cNvPr id="4" name="Picture 3">
            <a:extLst>
              <a:ext uri="{FF2B5EF4-FFF2-40B4-BE49-F238E27FC236}">
                <a16:creationId xmlns:a16="http://schemas.microsoft.com/office/drawing/2014/main" id="{40870EAC-E55C-85FB-85CD-F70BFCB34BD4}"/>
              </a:ext>
            </a:extLst>
          </p:cNvPr>
          <p:cNvPicPr>
            <a:picLocks noChangeAspect="1"/>
          </p:cNvPicPr>
          <p:nvPr/>
        </p:nvPicPr>
        <p:blipFill>
          <a:blip r:embed="rId2">
            <a:extLst>
              <a:ext uri="{28A0092B-C50C-407E-A947-70E740481C1C}">
                <a14:useLocalDpi xmlns:a14="http://schemas.microsoft.com/office/drawing/2010/main" val="0"/>
              </a:ext>
            </a:extLst>
          </a:blip>
          <a:srcRect r="24450" b="50000"/>
          <a:stretch>
            <a:fillRect/>
          </a:stretch>
        </p:blipFill>
        <p:spPr>
          <a:xfrm>
            <a:off x="453005" y="1315022"/>
            <a:ext cx="7516244" cy="2652971"/>
          </a:xfrm>
          <a:prstGeom prst="rect">
            <a:avLst/>
          </a:prstGeom>
        </p:spPr>
      </p:pic>
    </p:spTree>
    <p:extLst>
      <p:ext uri="{BB962C8B-B14F-4D97-AF65-F5344CB8AC3E}">
        <p14:creationId xmlns:p14="http://schemas.microsoft.com/office/powerpoint/2010/main" val="1780745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7DE958E-9B58-44CC-3521-3BF08CD88013}"/>
              </a:ext>
            </a:extLst>
          </p:cNvPr>
          <p:cNvSpPr txBox="1">
            <a:spLocks/>
          </p:cNvSpPr>
          <p:nvPr/>
        </p:nvSpPr>
        <p:spPr>
          <a:xfrm>
            <a:off x="677334" y="609601"/>
            <a:ext cx="8596668" cy="8382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Univariate Analysis : </a:t>
            </a:r>
            <a:r>
              <a:rPr lang="en-IN" dirty="0"/>
              <a:t>Humanities</a:t>
            </a:r>
          </a:p>
        </p:txBody>
      </p:sp>
      <p:sp>
        <p:nvSpPr>
          <p:cNvPr id="3" name="TextBox 2">
            <a:extLst>
              <a:ext uri="{FF2B5EF4-FFF2-40B4-BE49-F238E27FC236}">
                <a16:creationId xmlns:a16="http://schemas.microsoft.com/office/drawing/2014/main" id="{F7A15DB0-1127-BE64-C82F-86079538D626}"/>
              </a:ext>
            </a:extLst>
          </p:cNvPr>
          <p:cNvSpPr txBox="1"/>
          <p:nvPr/>
        </p:nvSpPr>
        <p:spPr>
          <a:xfrm>
            <a:off x="249495" y="4210840"/>
            <a:ext cx="6098796" cy="1477328"/>
          </a:xfrm>
          <a:prstGeom prst="rect">
            <a:avLst/>
          </a:prstGeom>
          <a:noFill/>
        </p:spPr>
        <p:txBody>
          <a:bodyPr wrap="square">
            <a:spAutoFit/>
          </a:bodyPr>
          <a:lstStyle/>
          <a:p>
            <a:r>
              <a:rPr lang="en-US" b="1" i="0" dirty="0">
                <a:solidFill>
                  <a:srgbClr val="1F1F1F"/>
                </a:solidFill>
                <a:effectLst/>
                <a:latin typeface="Google Sans Text"/>
              </a:rPr>
              <a:t>Difficulty (Medium): </a:t>
            </a:r>
            <a:r>
              <a:rPr lang="en-US" dirty="0"/>
              <a:t>English, History, and Spanish show moderate performance with means between 59 and 66. These are slightly left-skewed (negative skewness), suggesting that more students are scoring above the average than below it.</a:t>
            </a:r>
            <a:endParaRPr lang="en-IN" dirty="0"/>
          </a:p>
        </p:txBody>
      </p:sp>
      <p:sp>
        <p:nvSpPr>
          <p:cNvPr id="5" name="TextBox 4">
            <a:extLst>
              <a:ext uri="{FF2B5EF4-FFF2-40B4-BE49-F238E27FC236}">
                <a16:creationId xmlns:a16="http://schemas.microsoft.com/office/drawing/2014/main" id="{BF0D1041-6228-9DD1-3E5E-9E603733615B}"/>
              </a:ext>
            </a:extLst>
          </p:cNvPr>
          <p:cNvSpPr txBox="1"/>
          <p:nvPr/>
        </p:nvSpPr>
        <p:spPr>
          <a:xfrm>
            <a:off x="6087980" y="4210840"/>
            <a:ext cx="6104020" cy="1754326"/>
          </a:xfrm>
          <a:prstGeom prst="rect">
            <a:avLst/>
          </a:prstGeom>
          <a:noFill/>
        </p:spPr>
        <p:txBody>
          <a:bodyPr wrap="square">
            <a:spAutoFit/>
          </a:bodyPr>
          <a:lstStyle/>
          <a:p>
            <a:r>
              <a:rPr lang="en-US" b="1" dirty="0">
                <a:solidFill>
                  <a:srgbClr val="1F1F1F"/>
                </a:solidFill>
                <a:latin typeface="Google Sans Text"/>
              </a:rPr>
              <a:t>Distribution</a:t>
            </a:r>
            <a:r>
              <a:rPr lang="en-US" b="1" i="0" dirty="0">
                <a:solidFill>
                  <a:srgbClr val="1F1F1F"/>
                </a:solidFill>
                <a:effectLst/>
                <a:latin typeface="Google Sans Text"/>
              </a:rPr>
              <a:t>:</a:t>
            </a:r>
            <a:r>
              <a:rPr lang="en-US" b="0" i="0" dirty="0">
                <a:solidFill>
                  <a:srgbClr val="1F1F1F"/>
                </a:solidFill>
                <a:effectLst/>
                <a:latin typeface="Google Sans Text"/>
              </a:rPr>
              <a:t> </a:t>
            </a:r>
            <a:r>
              <a:rPr lang="en-US" dirty="0"/>
              <a:t>English, History, and Spanish have negative Kurtosis (around -1.0). These distributions are flatter (Platykurtic). This indicates there isn't one "common" grade; instead, students are spread out across a wide range of scores, possibly indicating that these subjects depend more on individual student effort or interest.</a:t>
            </a:r>
            <a:endParaRPr lang="en-IN" dirty="0"/>
          </a:p>
        </p:txBody>
      </p:sp>
      <p:pic>
        <p:nvPicPr>
          <p:cNvPr id="9" name="Picture 8">
            <a:extLst>
              <a:ext uri="{FF2B5EF4-FFF2-40B4-BE49-F238E27FC236}">
                <a16:creationId xmlns:a16="http://schemas.microsoft.com/office/drawing/2014/main" id="{91B1F3F7-2875-72B2-7B24-8697ED62BB2B}"/>
              </a:ext>
            </a:extLst>
          </p:cNvPr>
          <p:cNvPicPr>
            <a:picLocks noChangeAspect="1"/>
          </p:cNvPicPr>
          <p:nvPr/>
        </p:nvPicPr>
        <p:blipFill>
          <a:blip r:embed="rId2">
            <a:extLst>
              <a:ext uri="{28A0092B-C50C-407E-A947-70E740481C1C}">
                <a14:useLocalDpi xmlns:a14="http://schemas.microsoft.com/office/drawing/2010/main" val="0"/>
              </a:ext>
            </a:extLst>
          </a:blip>
          <a:srcRect t="50948" r="24450" b="513"/>
          <a:stretch>
            <a:fillRect/>
          </a:stretch>
        </p:blipFill>
        <p:spPr>
          <a:xfrm>
            <a:off x="677334" y="1355871"/>
            <a:ext cx="7231630" cy="2477898"/>
          </a:xfrm>
          <a:prstGeom prst="rect">
            <a:avLst/>
          </a:prstGeom>
        </p:spPr>
      </p:pic>
    </p:spTree>
    <p:extLst>
      <p:ext uri="{BB962C8B-B14F-4D97-AF65-F5344CB8AC3E}">
        <p14:creationId xmlns:p14="http://schemas.microsoft.com/office/powerpoint/2010/main" val="3486015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82C23-37D9-3A61-A245-8EC6CC5EDC2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82D2144-851D-07CC-CCE6-7D553518CA90}"/>
              </a:ext>
            </a:extLst>
          </p:cNvPr>
          <p:cNvSpPr txBox="1">
            <a:spLocks/>
          </p:cNvSpPr>
          <p:nvPr/>
        </p:nvSpPr>
        <p:spPr>
          <a:xfrm>
            <a:off x="677334" y="609601"/>
            <a:ext cx="8596668" cy="8382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Univariate Analysis : </a:t>
            </a:r>
            <a:r>
              <a:rPr lang="en-IN" dirty="0"/>
              <a:t>Band &amp; Physical Education</a:t>
            </a:r>
          </a:p>
        </p:txBody>
      </p:sp>
      <p:sp>
        <p:nvSpPr>
          <p:cNvPr id="3" name="TextBox 2">
            <a:extLst>
              <a:ext uri="{FF2B5EF4-FFF2-40B4-BE49-F238E27FC236}">
                <a16:creationId xmlns:a16="http://schemas.microsoft.com/office/drawing/2014/main" id="{E156E30A-4AB6-3BFA-ADD3-8C21732E042A}"/>
              </a:ext>
            </a:extLst>
          </p:cNvPr>
          <p:cNvSpPr txBox="1"/>
          <p:nvPr/>
        </p:nvSpPr>
        <p:spPr>
          <a:xfrm>
            <a:off x="236912" y="4296540"/>
            <a:ext cx="6098796" cy="1754326"/>
          </a:xfrm>
          <a:prstGeom prst="rect">
            <a:avLst/>
          </a:prstGeom>
          <a:noFill/>
        </p:spPr>
        <p:txBody>
          <a:bodyPr wrap="square">
            <a:spAutoFit/>
          </a:bodyPr>
          <a:lstStyle/>
          <a:p>
            <a:r>
              <a:rPr lang="en-US" b="1" i="0" dirty="0">
                <a:solidFill>
                  <a:srgbClr val="1F1F1F"/>
                </a:solidFill>
                <a:effectLst/>
                <a:latin typeface="Google Sans Text"/>
              </a:rPr>
              <a:t>Difficulty (Low): </a:t>
            </a:r>
            <a:r>
              <a:rPr lang="en-US" dirty="0"/>
              <a:t> Band and “</a:t>
            </a:r>
            <a:r>
              <a:rPr lang="en-US" i="1" dirty="0"/>
              <a:t>PhysEd”</a:t>
            </a:r>
            <a:r>
              <a:rPr lang="en-US" dirty="0"/>
              <a:t> (physical education) have the highest averages (70 and 67 respectively). These subjects also have the lowest standard deviations, meaning student performance is more consistent and "grouped" together compared to the wide variety of scores in English or History.</a:t>
            </a:r>
            <a:endParaRPr lang="en-IN" dirty="0"/>
          </a:p>
        </p:txBody>
      </p:sp>
      <p:sp>
        <p:nvSpPr>
          <p:cNvPr id="5" name="TextBox 4">
            <a:extLst>
              <a:ext uri="{FF2B5EF4-FFF2-40B4-BE49-F238E27FC236}">
                <a16:creationId xmlns:a16="http://schemas.microsoft.com/office/drawing/2014/main" id="{806E7C80-10D4-A2C9-184D-54834583B2B2}"/>
              </a:ext>
            </a:extLst>
          </p:cNvPr>
          <p:cNvSpPr txBox="1"/>
          <p:nvPr/>
        </p:nvSpPr>
        <p:spPr>
          <a:xfrm>
            <a:off x="6221992" y="4296540"/>
            <a:ext cx="6104020" cy="1477328"/>
          </a:xfrm>
          <a:prstGeom prst="rect">
            <a:avLst/>
          </a:prstGeom>
          <a:noFill/>
        </p:spPr>
        <p:txBody>
          <a:bodyPr wrap="square">
            <a:spAutoFit/>
          </a:bodyPr>
          <a:lstStyle/>
          <a:p>
            <a:r>
              <a:rPr lang="en-US" b="1" dirty="0">
                <a:solidFill>
                  <a:srgbClr val="1F1F1F"/>
                </a:solidFill>
                <a:latin typeface="Google Sans Text"/>
              </a:rPr>
              <a:t>Distribution</a:t>
            </a:r>
            <a:r>
              <a:rPr lang="en-US" b="1" i="0" dirty="0">
                <a:solidFill>
                  <a:srgbClr val="1F1F1F"/>
                </a:solidFill>
                <a:effectLst/>
                <a:latin typeface="Google Sans Text"/>
              </a:rPr>
              <a:t>:</a:t>
            </a:r>
            <a:r>
              <a:rPr lang="en-US" b="0" i="0" dirty="0">
                <a:solidFill>
                  <a:srgbClr val="1F1F1F"/>
                </a:solidFill>
                <a:effectLst/>
                <a:latin typeface="Google Sans Text"/>
              </a:rPr>
              <a:t> </a:t>
            </a:r>
            <a:r>
              <a:rPr lang="en-US" dirty="0"/>
              <a:t> Band has a Kurtosis of -1.28 and a maximum score of 80 (the lowest "Max" of any subject). This suggests the grading might be capped or the curriculum is designed so that almost everyone reaches a high level of competency but nobody "breaks away" with a 90+.</a:t>
            </a:r>
            <a:endParaRPr lang="en-IN" dirty="0"/>
          </a:p>
        </p:txBody>
      </p:sp>
      <p:pic>
        <p:nvPicPr>
          <p:cNvPr id="2" name="Picture 1">
            <a:extLst>
              <a:ext uri="{FF2B5EF4-FFF2-40B4-BE49-F238E27FC236}">
                <a16:creationId xmlns:a16="http://schemas.microsoft.com/office/drawing/2014/main" id="{8B7E9C7E-63BF-578C-7DDB-4E98AF9BBF63}"/>
              </a:ext>
            </a:extLst>
          </p:cNvPr>
          <p:cNvPicPr>
            <a:picLocks noChangeAspect="1"/>
          </p:cNvPicPr>
          <p:nvPr/>
        </p:nvPicPr>
        <p:blipFill>
          <a:blip r:embed="rId2">
            <a:extLst>
              <a:ext uri="{28A0092B-C50C-407E-A947-70E740481C1C}">
                <a14:useLocalDpi xmlns:a14="http://schemas.microsoft.com/office/drawing/2010/main" val="0"/>
              </a:ext>
            </a:extLst>
          </a:blip>
          <a:srcRect l="74963" r="-6" b="50000"/>
          <a:stretch>
            <a:fillRect/>
          </a:stretch>
        </p:blipFill>
        <p:spPr>
          <a:xfrm>
            <a:off x="1073790" y="1813287"/>
            <a:ext cx="2332141" cy="2483253"/>
          </a:xfrm>
          <a:prstGeom prst="rect">
            <a:avLst/>
          </a:prstGeom>
        </p:spPr>
      </p:pic>
      <p:pic>
        <p:nvPicPr>
          <p:cNvPr id="4" name="Picture 3">
            <a:extLst>
              <a:ext uri="{FF2B5EF4-FFF2-40B4-BE49-F238E27FC236}">
                <a16:creationId xmlns:a16="http://schemas.microsoft.com/office/drawing/2014/main" id="{BDDADF48-973F-170E-CAC8-340937AE84A7}"/>
              </a:ext>
            </a:extLst>
          </p:cNvPr>
          <p:cNvPicPr>
            <a:picLocks noChangeAspect="1"/>
          </p:cNvPicPr>
          <p:nvPr/>
        </p:nvPicPr>
        <p:blipFill>
          <a:blip r:embed="rId2">
            <a:extLst>
              <a:ext uri="{28A0092B-C50C-407E-A947-70E740481C1C}">
                <a14:useLocalDpi xmlns:a14="http://schemas.microsoft.com/office/drawing/2010/main" val="0"/>
              </a:ext>
            </a:extLst>
          </a:blip>
          <a:srcRect l="74957" t="50000"/>
          <a:stretch>
            <a:fillRect/>
          </a:stretch>
        </p:blipFill>
        <p:spPr>
          <a:xfrm>
            <a:off x="4003567" y="1813286"/>
            <a:ext cx="2332141" cy="2483253"/>
          </a:xfrm>
          <a:prstGeom prst="rect">
            <a:avLst/>
          </a:prstGeom>
        </p:spPr>
      </p:pic>
    </p:spTree>
    <p:extLst>
      <p:ext uri="{BB962C8B-B14F-4D97-AF65-F5344CB8AC3E}">
        <p14:creationId xmlns:p14="http://schemas.microsoft.com/office/powerpoint/2010/main" val="424865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72FD4A-0DB2-4F39-D5B5-275F42243D38}"/>
              </a:ext>
            </a:extLst>
          </p:cNvPr>
          <p:cNvPicPr>
            <a:picLocks noChangeAspect="1"/>
          </p:cNvPicPr>
          <p:nvPr/>
        </p:nvPicPr>
        <p:blipFill>
          <a:blip r:embed="rId2">
            <a:duotone>
              <a:schemeClr val="accent1">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2163097" y="403123"/>
            <a:ext cx="6859891" cy="6204155"/>
          </a:xfrm>
          <a:prstGeom prst="rect">
            <a:avLst/>
          </a:prstGeom>
        </p:spPr>
      </p:pic>
      <p:sp>
        <p:nvSpPr>
          <p:cNvPr id="2" name="TextBox 1">
            <a:extLst>
              <a:ext uri="{FF2B5EF4-FFF2-40B4-BE49-F238E27FC236}">
                <a16:creationId xmlns:a16="http://schemas.microsoft.com/office/drawing/2014/main" id="{5E199DF1-9213-3463-D082-4051C7B400F1}"/>
              </a:ext>
            </a:extLst>
          </p:cNvPr>
          <p:cNvSpPr txBox="1"/>
          <p:nvPr/>
        </p:nvSpPr>
        <p:spPr>
          <a:xfrm>
            <a:off x="3077497" y="2819712"/>
            <a:ext cx="7030065" cy="923330"/>
          </a:xfrm>
          <a:prstGeom prst="rect">
            <a:avLst/>
          </a:prstGeom>
          <a:noFill/>
        </p:spPr>
        <p:txBody>
          <a:bodyPr wrap="square" rtlCol="0">
            <a:spAutoFit/>
          </a:bodyPr>
          <a:lstStyle/>
          <a:p>
            <a:r>
              <a:rPr lang="en-IN" sz="5400" noProof="0" dirty="0">
                <a:solidFill>
                  <a:schemeClr val="tx2"/>
                </a:solidFill>
              </a:rPr>
              <a:t>PCA Implementation</a:t>
            </a:r>
          </a:p>
        </p:txBody>
      </p:sp>
    </p:spTree>
    <p:extLst>
      <p:ext uri="{BB962C8B-B14F-4D97-AF65-F5344CB8AC3E}">
        <p14:creationId xmlns:p14="http://schemas.microsoft.com/office/powerpoint/2010/main" val="3887130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E3FC-FE98-431A-3311-94EE4AD82357}"/>
              </a:ext>
            </a:extLst>
          </p:cNvPr>
          <p:cNvSpPr>
            <a:spLocks noGrp="1"/>
          </p:cNvSpPr>
          <p:nvPr>
            <p:ph type="title"/>
          </p:nvPr>
        </p:nvSpPr>
        <p:spPr/>
        <p:txBody>
          <a:bodyPr/>
          <a:lstStyle/>
          <a:p>
            <a:r>
              <a:rPr lang="en-IN" noProof="0" dirty="0"/>
              <a:t>Insights from Scree Plot</a:t>
            </a:r>
          </a:p>
        </p:txBody>
      </p:sp>
      <p:pic>
        <p:nvPicPr>
          <p:cNvPr id="6" name="Content Placeholder 5">
            <a:extLst>
              <a:ext uri="{FF2B5EF4-FFF2-40B4-BE49-F238E27FC236}">
                <a16:creationId xmlns:a16="http://schemas.microsoft.com/office/drawing/2014/main" id="{F8745BE6-2DC1-77E4-D2DD-A285AACB6EE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8100" y="1377950"/>
            <a:ext cx="5181996" cy="4102100"/>
          </a:xfrm>
        </p:spPr>
      </p:pic>
      <p:sp>
        <p:nvSpPr>
          <p:cNvPr id="4" name="Content Placeholder 3">
            <a:extLst>
              <a:ext uri="{FF2B5EF4-FFF2-40B4-BE49-F238E27FC236}">
                <a16:creationId xmlns:a16="http://schemas.microsoft.com/office/drawing/2014/main" id="{D5B3F1D4-44A7-D8A7-12FB-9FAB7D7336D0}"/>
              </a:ext>
            </a:extLst>
          </p:cNvPr>
          <p:cNvSpPr>
            <a:spLocks noGrp="1"/>
          </p:cNvSpPr>
          <p:nvPr>
            <p:ph sz="half" idx="2"/>
          </p:nvPr>
        </p:nvSpPr>
        <p:spPr>
          <a:xfrm>
            <a:off x="5491864" y="3936542"/>
            <a:ext cx="6027036" cy="1940386"/>
          </a:xfrm>
        </p:spPr>
        <p:txBody>
          <a:bodyPr/>
          <a:lstStyle/>
          <a:p>
            <a:r>
              <a:rPr lang="en-IN" noProof="0" dirty="0"/>
              <a:t>From the scree plot and the tabulated data, we can conclude that the first two Principal Components can explain approximately 88% variance collectively.</a:t>
            </a:r>
          </a:p>
          <a:p>
            <a:r>
              <a:rPr lang="en-IN" noProof="0" dirty="0"/>
              <a:t>Hence, we retain only the first two components for further analysis and visualization.</a:t>
            </a:r>
          </a:p>
        </p:txBody>
      </p:sp>
      <p:pic>
        <p:nvPicPr>
          <p:cNvPr id="8" name="Picture 7">
            <a:extLst>
              <a:ext uri="{FF2B5EF4-FFF2-40B4-BE49-F238E27FC236}">
                <a16:creationId xmlns:a16="http://schemas.microsoft.com/office/drawing/2014/main" id="{1AC4F96A-388E-B696-3C3E-A2AB8262F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8442" y="1353023"/>
            <a:ext cx="4851501" cy="2469677"/>
          </a:xfrm>
          <a:prstGeom prst="rect">
            <a:avLst/>
          </a:prstGeom>
        </p:spPr>
      </p:pic>
    </p:spTree>
    <p:extLst>
      <p:ext uri="{BB962C8B-B14F-4D97-AF65-F5344CB8AC3E}">
        <p14:creationId xmlns:p14="http://schemas.microsoft.com/office/powerpoint/2010/main" val="1513989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30AFE5A9-7DF0-ED2F-18F0-1C6D14A7B4F0}"/>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08533" y="1728648"/>
            <a:ext cx="1061542" cy="1061542"/>
          </a:xfrm>
          <a:prstGeom prst="rect">
            <a:avLst/>
          </a:prstGeom>
        </p:spPr>
      </p:pic>
      <p:sp>
        <p:nvSpPr>
          <p:cNvPr id="2" name="Title 1">
            <a:extLst>
              <a:ext uri="{FF2B5EF4-FFF2-40B4-BE49-F238E27FC236}">
                <a16:creationId xmlns:a16="http://schemas.microsoft.com/office/drawing/2014/main" id="{53292E2F-94D9-975A-4E94-4D41DAF192BC}"/>
              </a:ext>
            </a:extLst>
          </p:cNvPr>
          <p:cNvSpPr>
            <a:spLocks noGrp="1"/>
          </p:cNvSpPr>
          <p:nvPr>
            <p:ph type="title"/>
          </p:nvPr>
        </p:nvSpPr>
        <p:spPr/>
        <p:txBody>
          <a:bodyPr/>
          <a:lstStyle/>
          <a:p>
            <a:pPr lvl="0"/>
            <a:r>
              <a:rPr lang="en-IN" noProof="0" dirty="0"/>
              <a:t>Interpretation of Principal Components</a:t>
            </a:r>
          </a:p>
        </p:txBody>
      </p:sp>
      <p:pic>
        <p:nvPicPr>
          <p:cNvPr id="6" name="Content Placeholder 5">
            <a:extLst>
              <a:ext uri="{FF2B5EF4-FFF2-40B4-BE49-F238E27FC236}">
                <a16:creationId xmlns:a16="http://schemas.microsoft.com/office/drawing/2014/main" id="{B3A9162A-E6D6-ABD5-A9FE-36E9D4644D1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505102" y="1371600"/>
            <a:ext cx="6292795" cy="1801105"/>
          </a:xfrm>
        </p:spPr>
      </p:pic>
      <p:sp>
        <p:nvSpPr>
          <p:cNvPr id="4" name="Content Placeholder 3">
            <a:extLst>
              <a:ext uri="{FF2B5EF4-FFF2-40B4-BE49-F238E27FC236}">
                <a16:creationId xmlns:a16="http://schemas.microsoft.com/office/drawing/2014/main" id="{45417D09-7DDD-99E2-391E-28C6C2D4DB68}"/>
              </a:ext>
            </a:extLst>
          </p:cNvPr>
          <p:cNvSpPr>
            <a:spLocks noGrp="1"/>
          </p:cNvSpPr>
          <p:nvPr>
            <p:ph sz="half" idx="2"/>
          </p:nvPr>
        </p:nvSpPr>
        <p:spPr>
          <a:xfrm>
            <a:off x="5799715" y="3649980"/>
            <a:ext cx="5996364" cy="2458475"/>
          </a:xfrm>
        </p:spPr>
        <p:txBody>
          <a:bodyPr>
            <a:noAutofit/>
          </a:bodyPr>
          <a:lstStyle/>
          <a:p>
            <a:r>
              <a:rPr lang="en-IN" noProof="0" dirty="0"/>
              <a:t>Analysing the Second Principal Component:</a:t>
            </a:r>
          </a:p>
          <a:p>
            <a:pPr>
              <a:buFont typeface="Arial" panose="020B0604020202020204" pitchFamily="34" charset="0"/>
              <a:buChar char="•"/>
            </a:pPr>
            <a:r>
              <a:rPr lang="en-IN" sz="1600" noProof="0" dirty="0"/>
              <a:t>   It has very small weights (about 0.4) for all STEM subjects.</a:t>
            </a:r>
          </a:p>
          <a:p>
            <a:pPr>
              <a:buFont typeface="Arial" panose="020B0604020202020204" pitchFamily="34" charset="0"/>
              <a:buChar char="•"/>
            </a:pPr>
            <a:r>
              <a:rPr lang="en-IN" sz="1600" noProof="0" dirty="0"/>
              <a:t>And even negative weights for languages/humanities.</a:t>
            </a:r>
          </a:p>
          <a:p>
            <a:pPr>
              <a:buFont typeface="Arial" panose="020B0604020202020204" pitchFamily="34" charset="0"/>
              <a:buChar char="•"/>
            </a:pPr>
            <a:r>
              <a:rPr lang="en-IN" sz="1600" noProof="0" dirty="0"/>
              <a:t>But high positive weights for band/physical education.</a:t>
            </a:r>
          </a:p>
          <a:p>
            <a:r>
              <a:rPr lang="en-IN" sz="1600" b="1" noProof="0" dirty="0"/>
              <a:t>   Significance:</a:t>
            </a:r>
            <a:r>
              <a:rPr lang="en-IN" sz="1600" noProof="0" dirty="0"/>
              <a:t> If a student scores high on this, we can conclude that they are good at Band/Physical </a:t>
            </a:r>
            <a:r>
              <a:rPr lang="en-IN" sz="1600" dirty="0"/>
              <a:t>E</a:t>
            </a:r>
            <a:r>
              <a:rPr lang="en-IN" sz="1600" noProof="0" dirty="0"/>
              <a:t>ducation (have good artistic abilities or physical fitness) but may have poor performance it traditional subjects (especially in humanities and languages).</a:t>
            </a:r>
          </a:p>
          <a:p>
            <a:pPr marL="0" indent="0">
              <a:buNone/>
            </a:pPr>
            <a:endParaRPr lang="en-IN" sz="700" noProof="0" dirty="0"/>
          </a:p>
        </p:txBody>
      </p:sp>
      <p:sp>
        <p:nvSpPr>
          <p:cNvPr id="3" name="Content Placeholder 3">
            <a:extLst>
              <a:ext uri="{FF2B5EF4-FFF2-40B4-BE49-F238E27FC236}">
                <a16:creationId xmlns:a16="http://schemas.microsoft.com/office/drawing/2014/main" id="{0639CB8E-C311-511A-7995-CD03DE569015}"/>
              </a:ext>
            </a:extLst>
          </p:cNvPr>
          <p:cNvSpPr txBox="1">
            <a:spLocks/>
          </p:cNvSpPr>
          <p:nvPr/>
        </p:nvSpPr>
        <p:spPr>
          <a:xfrm>
            <a:off x="127000" y="3649981"/>
            <a:ext cx="5651500" cy="24584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Analysing the First Principal Component:</a:t>
            </a:r>
          </a:p>
          <a:p>
            <a:pPr>
              <a:buFont typeface="Arial" panose="020B0604020202020204" pitchFamily="34" charset="0"/>
              <a:buChar char="•"/>
            </a:pPr>
            <a:r>
              <a:rPr lang="en-IN" sz="1400" dirty="0"/>
              <a:t> </a:t>
            </a:r>
            <a:r>
              <a:rPr lang="en-IN" sz="1600" dirty="0"/>
              <a:t>It has moderate weights (about 0.4) for all core subjects. </a:t>
            </a:r>
          </a:p>
          <a:p>
            <a:pPr>
              <a:buFont typeface="Arial" panose="020B0604020202020204" pitchFamily="34" charset="0"/>
              <a:buChar char="•"/>
            </a:pPr>
            <a:r>
              <a:rPr lang="en-IN" sz="1600" dirty="0"/>
              <a:t>But it has very low weights for both Band/Physical Education.</a:t>
            </a:r>
          </a:p>
          <a:p>
            <a:r>
              <a:rPr lang="en-IN" sz="1400" dirty="0"/>
              <a:t>   </a:t>
            </a:r>
            <a:r>
              <a:rPr lang="en-IN" sz="1600" b="1" dirty="0"/>
              <a:t>Significance:</a:t>
            </a:r>
            <a:r>
              <a:rPr lang="en-IN" sz="1600" dirty="0"/>
              <a:t> This component seems to capture a contrast between performance core/traditional subjects and band/physical education. For example, if a student scores high on PC1, it means they are good at core subjects, and possibly less impressive at Band/Physical Education </a:t>
            </a:r>
            <a:endParaRPr lang="en-IN" sz="1400" dirty="0"/>
          </a:p>
        </p:txBody>
      </p:sp>
    </p:spTree>
    <p:extLst>
      <p:ext uri="{BB962C8B-B14F-4D97-AF65-F5344CB8AC3E}">
        <p14:creationId xmlns:p14="http://schemas.microsoft.com/office/powerpoint/2010/main" val="463819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D0655-7429-6C12-1E80-91E089874387}"/>
              </a:ext>
            </a:extLst>
          </p:cNvPr>
          <p:cNvSpPr>
            <a:spLocks noGrp="1"/>
          </p:cNvSpPr>
          <p:nvPr>
            <p:ph type="title"/>
          </p:nvPr>
        </p:nvSpPr>
        <p:spPr/>
        <p:txBody>
          <a:bodyPr/>
          <a:lstStyle/>
          <a:p>
            <a:r>
              <a:rPr lang="en-IN" noProof="0" dirty="0"/>
              <a:t>Findings from Scatter Plot</a:t>
            </a:r>
          </a:p>
        </p:txBody>
      </p:sp>
      <p:pic>
        <p:nvPicPr>
          <p:cNvPr id="6" name="Content Placeholder 5">
            <a:extLst>
              <a:ext uri="{FF2B5EF4-FFF2-40B4-BE49-F238E27FC236}">
                <a16:creationId xmlns:a16="http://schemas.microsoft.com/office/drawing/2014/main" id="{9A55C954-B542-98A7-8C33-32368885EEB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81223" y="1615440"/>
            <a:ext cx="4973655" cy="4130960"/>
          </a:xfrm>
        </p:spPr>
      </p:pic>
      <p:sp>
        <p:nvSpPr>
          <p:cNvPr id="4" name="Content Placeholder 3">
            <a:extLst>
              <a:ext uri="{FF2B5EF4-FFF2-40B4-BE49-F238E27FC236}">
                <a16:creationId xmlns:a16="http://schemas.microsoft.com/office/drawing/2014/main" id="{F3D23681-F229-5379-1B9C-46C578615D6D}"/>
              </a:ext>
            </a:extLst>
          </p:cNvPr>
          <p:cNvSpPr>
            <a:spLocks noGrp="1"/>
          </p:cNvSpPr>
          <p:nvPr>
            <p:ph sz="half" idx="2"/>
          </p:nvPr>
        </p:nvSpPr>
        <p:spPr>
          <a:xfrm>
            <a:off x="5650988" y="1760134"/>
            <a:ext cx="5677412" cy="4742266"/>
          </a:xfrm>
        </p:spPr>
        <p:txBody>
          <a:bodyPr>
            <a:normAutofit lnSpcReduction="10000"/>
          </a:bodyPr>
          <a:lstStyle/>
          <a:p>
            <a:r>
              <a:rPr lang="en-IN" sz="2000" b="1" noProof="0" dirty="0"/>
              <a:t>Insights drawn from the Plot:</a:t>
            </a:r>
            <a:endParaRPr lang="en-IN" sz="2000" noProof="0" dirty="0"/>
          </a:p>
          <a:p>
            <a:r>
              <a:rPr lang="en-IN" sz="1600" b="1" noProof="0" dirty="0"/>
              <a:t>Uniform Distribution:</a:t>
            </a:r>
            <a:r>
              <a:rPr lang="en-IN" sz="1600" noProof="0" dirty="0"/>
              <a:t> There are Students of all levels and type of profiencies.</a:t>
            </a:r>
          </a:p>
          <a:p>
            <a:r>
              <a:rPr lang="en-IN" sz="1600" b="1" noProof="0" dirty="0"/>
              <a:t>Top-Right Quadrant (High PC1, High PC2):</a:t>
            </a:r>
            <a:r>
              <a:rPr lang="en-IN" sz="1600" noProof="0" dirty="0"/>
              <a:t>This group of students are simultaneously good at both core subject sand band/physical</a:t>
            </a:r>
          </a:p>
          <a:p>
            <a:r>
              <a:rPr lang="en-IN" sz="1600" b="1" noProof="0" dirty="0"/>
              <a:t>Bottom-Right Quadrant (High PC1, Low PC2):</a:t>
            </a:r>
            <a:r>
              <a:rPr lang="en-IN" sz="1600" noProof="0" dirty="0"/>
              <a:t> Good at academics but poor at band/physical education.</a:t>
            </a:r>
          </a:p>
          <a:p>
            <a:r>
              <a:rPr lang="en-IN" sz="1600" b="1" noProof="0" dirty="0"/>
              <a:t>Top-Left Quadrant (Low PC1, High PC2):</a:t>
            </a:r>
            <a:r>
              <a:rPr lang="en-IN" sz="1600" noProof="0" dirty="0"/>
              <a:t> Good at physical activities or creativity but struggling with academics.</a:t>
            </a:r>
          </a:p>
          <a:p>
            <a:r>
              <a:rPr lang="en-IN" sz="1600" b="1" noProof="0" dirty="0"/>
              <a:t>Bottom-Left Quadrant (Low PC1, Low PC2</a:t>
            </a:r>
            <a:r>
              <a:rPr lang="en-IN" b="1" noProof="0" dirty="0"/>
              <a:t>): </a:t>
            </a:r>
            <a:r>
              <a:rPr lang="en-IN" sz="1600" noProof="0" dirty="0"/>
              <a:t>Poorly performing across both parameters.</a:t>
            </a:r>
            <a:endParaRPr lang="en-IN" sz="1400" noProof="0" dirty="0"/>
          </a:p>
          <a:p>
            <a:r>
              <a:rPr lang="en-IN" sz="1600" b="1" noProof="0" dirty="0"/>
              <a:t>A few High Achievers in Studies:</a:t>
            </a:r>
            <a:r>
              <a:rPr lang="en-IN" sz="1600" noProof="0" dirty="0"/>
              <a:t> There are a few high performers in core subjects, although their excellence in Band/Physical Education varies significantly.</a:t>
            </a:r>
          </a:p>
        </p:txBody>
      </p:sp>
    </p:spTree>
    <p:extLst>
      <p:ext uri="{BB962C8B-B14F-4D97-AF65-F5344CB8AC3E}">
        <p14:creationId xmlns:p14="http://schemas.microsoft.com/office/powerpoint/2010/main" val="27251475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6FF0-307D-87AC-CA72-5A5835934C2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1456E45-3A97-4F08-7FAC-FD7BCB4A9A52}"/>
              </a:ext>
            </a:extLst>
          </p:cNvPr>
          <p:cNvPicPr>
            <a:picLocks noChangeAspect="1"/>
          </p:cNvPicPr>
          <p:nvPr/>
        </p:nvPicPr>
        <p:blipFill>
          <a:blip r:embed="rId2">
            <a:duotone>
              <a:schemeClr val="accent1">
                <a:shade val="45000"/>
                <a:satMod val="135000"/>
              </a:schemeClr>
              <a:prstClr val="white"/>
            </a:duotone>
            <a:alphaModFix amt="21000"/>
            <a:extLst>
              <a:ext uri="{28A0092B-C50C-407E-A947-70E740481C1C}">
                <a14:useLocalDpi xmlns:a14="http://schemas.microsoft.com/office/drawing/2010/main" val="0"/>
              </a:ext>
            </a:extLst>
          </a:blip>
          <a:stretch>
            <a:fillRect/>
          </a:stretch>
        </p:blipFill>
        <p:spPr>
          <a:xfrm flipV="1">
            <a:off x="0" y="4017"/>
            <a:ext cx="6027175" cy="6853983"/>
          </a:xfrm>
          <a:prstGeom prst="rect">
            <a:avLst/>
          </a:prstGeom>
          <a:effectLst/>
        </p:spPr>
      </p:pic>
      <p:sp>
        <p:nvSpPr>
          <p:cNvPr id="2" name="TextBox 1">
            <a:extLst>
              <a:ext uri="{FF2B5EF4-FFF2-40B4-BE49-F238E27FC236}">
                <a16:creationId xmlns:a16="http://schemas.microsoft.com/office/drawing/2014/main" id="{CAC16B8E-BE98-6459-965D-C14A5409BB60}"/>
              </a:ext>
            </a:extLst>
          </p:cNvPr>
          <p:cNvSpPr txBox="1"/>
          <p:nvPr/>
        </p:nvSpPr>
        <p:spPr>
          <a:xfrm>
            <a:off x="3077497" y="2819712"/>
            <a:ext cx="7030065" cy="923330"/>
          </a:xfrm>
          <a:prstGeom prst="rect">
            <a:avLst/>
          </a:prstGeom>
          <a:noFill/>
        </p:spPr>
        <p:txBody>
          <a:bodyPr wrap="square" rtlCol="0">
            <a:spAutoFit/>
          </a:bodyPr>
          <a:lstStyle/>
          <a:p>
            <a:r>
              <a:rPr lang="en-IN" sz="5400" noProof="0" dirty="0">
                <a:solidFill>
                  <a:schemeClr val="tx2"/>
                </a:solidFill>
              </a:rPr>
              <a:t>t-SNE Implementation</a:t>
            </a:r>
          </a:p>
        </p:txBody>
      </p:sp>
    </p:spTree>
    <p:extLst>
      <p:ext uri="{BB962C8B-B14F-4D97-AF65-F5344CB8AC3E}">
        <p14:creationId xmlns:p14="http://schemas.microsoft.com/office/powerpoint/2010/main" val="1025536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AF8F6-5FCA-9A32-7C97-EEAA8DA03A95}"/>
              </a:ext>
            </a:extLst>
          </p:cNvPr>
          <p:cNvSpPr>
            <a:spLocks noGrp="1"/>
          </p:cNvSpPr>
          <p:nvPr>
            <p:ph type="title"/>
          </p:nvPr>
        </p:nvSpPr>
        <p:spPr>
          <a:xfrm>
            <a:off x="677334" y="609600"/>
            <a:ext cx="8596668" cy="816077"/>
          </a:xfrm>
        </p:spPr>
        <p:txBody>
          <a:bodyPr/>
          <a:lstStyle/>
          <a:p>
            <a:r>
              <a:rPr lang="en-IN" noProof="0" dirty="0"/>
              <a:t>Insights from Scatter Plot</a:t>
            </a:r>
          </a:p>
        </p:txBody>
      </p:sp>
      <p:pic>
        <p:nvPicPr>
          <p:cNvPr id="6" name="Content Placeholder 5">
            <a:extLst>
              <a:ext uri="{FF2B5EF4-FFF2-40B4-BE49-F238E27FC236}">
                <a16:creationId xmlns:a16="http://schemas.microsoft.com/office/drawing/2014/main" id="{3B528E86-30D2-65DD-9F6D-F240DC4E4793}"/>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78544" y="1671484"/>
            <a:ext cx="4925383" cy="4223159"/>
          </a:xfrm>
        </p:spPr>
      </p:pic>
      <p:sp>
        <p:nvSpPr>
          <p:cNvPr id="9" name="TextBox 8">
            <a:extLst>
              <a:ext uri="{FF2B5EF4-FFF2-40B4-BE49-F238E27FC236}">
                <a16:creationId xmlns:a16="http://schemas.microsoft.com/office/drawing/2014/main" id="{B5584676-B653-2390-EB3C-D8219F42C1AF}"/>
              </a:ext>
            </a:extLst>
          </p:cNvPr>
          <p:cNvSpPr txBox="1"/>
          <p:nvPr/>
        </p:nvSpPr>
        <p:spPr>
          <a:xfrm>
            <a:off x="5329084" y="1425677"/>
            <a:ext cx="6538452" cy="4524315"/>
          </a:xfrm>
          <a:prstGeom prst="rect">
            <a:avLst/>
          </a:prstGeom>
          <a:noFill/>
        </p:spPr>
        <p:txBody>
          <a:bodyPr wrap="square" rtlCol="0">
            <a:spAutoFit/>
          </a:bodyPr>
          <a:lstStyle/>
          <a:p>
            <a:r>
              <a:rPr lang="en-IN" sz="1200" b="1" noProof="0" dirty="0"/>
              <a:t>Evidence of Academic "Archetypes":</a:t>
            </a:r>
            <a:r>
              <a:rPr lang="en-IN" sz="1200" noProof="0" dirty="0"/>
              <a:t> </a:t>
            </a:r>
          </a:p>
          <a:p>
            <a:r>
              <a:rPr lang="en-IN" sz="1200" noProof="0" dirty="0"/>
              <a:t>	The most important insight is that the points are not randomly scattered; they form distinct clusters. This suggests that the student population isn't a uniform mix. Instead, students tend to fall into specific academic archetypes—groups that share similar strengths and weaknesses across subjects (e.g., a "STEM-focused" group or a "Humanities-leaning" group).</a:t>
            </a:r>
          </a:p>
          <a:p>
            <a:endParaRPr lang="en-IN" sz="1200" noProof="0" dirty="0"/>
          </a:p>
          <a:p>
            <a:r>
              <a:rPr lang="en-IN" sz="1200" b="1" noProof="0" dirty="0"/>
              <a:t>Identification of Isolated Sub-groups:</a:t>
            </a:r>
            <a:endParaRPr lang="en-IN" sz="1200" noProof="0" dirty="0"/>
          </a:p>
          <a:p>
            <a:r>
              <a:rPr lang="en-IN" sz="1200" noProof="0" dirty="0"/>
              <a:t>	The "</a:t>
            </a:r>
            <a:r>
              <a:rPr lang="en-IN" sz="1200" i="1" noProof="0" dirty="0"/>
              <a:t>Top-Tier</a:t>
            </a:r>
            <a:r>
              <a:rPr lang="en-IN" sz="1200" noProof="0" dirty="0"/>
              <a:t>" or "</a:t>
            </a:r>
            <a:r>
              <a:rPr lang="en-IN" sz="1200" i="1" noProof="0" dirty="0"/>
              <a:t>Unique</a:t>
            </a:r>
            <a:r>
              <a:rPr lang="en-IN" sz="1200" noProof="0" dirty="0"/>
              <a:t>" Cluster: There is a very distinct, almost horizontal line of points at the top of the plot (y is approximately 5.5). These students have a grade profile that is fundamentally different from everyone else.</a:t>
            </a:r>
          </a:p>
          <a:p>
            <a:r>
              <a:rPr lang="en-IN" sz="1200" noProof="0" dirty="0"/>
              <a:t>	Interpretation: These could be the highest overachievers who excel in every subject, or perhaps a niche group that failed specific subjects but aced others.</a:t>
            </a:r>
          </a:p>
          <a:p>
            <a:r>
              <a:rPr lang="en-IN" sz="1200" noProof="0" dirty="0"/>
              <a:t>	The Left-Hand Cluster: The grouping around x = -4 represents another unique profile. The physical distance between this group and the main mass on the right indicates their performance patterns are highly dissimilar to the "average" student.</a:t>
            </a:r>
          </a:p>
          <a:p>
            <a:endParaRPr lang="en-IN" sz="1200" noProof="0" dirty="0"/>
          </a:p>
          <a:p>
            <a:r>
              <a:rPr lang="en-IN" sz="1200" b="1" noProof="0" dirty="0"/>
              <a:t>The "Mainstream" Gradient:</a:t>
            </a:r>
            <a:r>
              <a:rPr lang="en-IN" sz="1200" noProof="0" dirty="0"/>
              <a:t> The large, denser region on the right side of the plot represents the majority of the student body.</a:t>
            </a:r>
          </a:p>
          <a:p>
            <a:r>
              <a:rPr lang="en-IN" sz="1200" noProof="0" dirty="0"/>
              <a:t>	Insights: Unlike the isolated clusters, this area shows a more "continuous" spread. This suggests a gradual variation in grades among these students, likely representing those with more balanced or average performance across the board.</a:t>
            </a:r>
          </a:p>
          <a:p>
            <a:r>
              <a:rPr lang="en-IN" sz="1200" noProof="0" dirty="0"/>
              <a:t>	Sub-clustering: Within this large mass, one can see smaller "pockets" of density. These represent subtle variations.</a:t>
            </a:r>
          </a:p>
        </p:txBody>
      </p:sp>
    </p:spTree>
    <p:extLst>
      <p:ext uri="{BB962C8B-B14F-4D97-AF65-F5344CB8AC3E}">
        <p14:creationId xmlns:p14="http://schemas.microsoft.com/office/powerpoint/2010/main" val="97666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B7B2C-E4DC-8B58-BAE7-DE7AF33152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B955D02-DDD0-93A5-F687-C5AF3FB7D7B3}"/>
              </a:ext>
            </a:extLst>
          </p:cNvPr>
          <p:cNvPicPr>
            <a:picLocks noChangeAspect="1"/>
          </p:cNvPicPr>
          <p:nvPr/>
        </p:nvPicPr>
        <p:blipFill>
          <a:blip r:embed="rId2">
            <a:duotone>
              <a:schemeClr val="accent1">
                <a:shade val="45000"/>
                <a:satMod val="135000"/>
              </a:schemeClr>
              <a:prstClr val="white"/>
            </a:duotone>
            <a:alphaModFix amt="15000"/>
            <a:extLst>
              <a:ext uri="{28A0092B-C50C-407E-A947-70E740481C1C}">
                <a14:useLocalDpi xmlns:a14="http://schemas.microsoft.com/office/drawing/2010/main" val="0"/>
              </a:ext>
            </a:extLst>
          </a:blip>
          <a:srcRect r="9722"/>
          <a:stretch>
            <a:fillRect/>
          </a:stretch>
        </p:blipFill>
        <p:spPr>
          <a:xfrm>
            <a:off x="2667000" y="0"/>
            <a:ext cx="6191250" cy="6858000"/>
          </a:xfrm>
          <a:prstGeom prst="rect">
            <a:avLst/>
          </a:prstGeom>
          <a:effectLst/>
        </p:spPr>
      </p:pic>
      <p:sp>
        <p:nvSpPr>
          <p:cNvPr id="2" name="TextBox 1">
            <a:extLst>
              <a:ext uri="{FF2B5EF4-FFF2-40B4-BE49-F238E27FC236}">
                <a16:creationId xmlns:a16="http://schemas.microsoft.com/office/drawing/2014/main" id="{27C7641C-0977-0055-AC53-CD64EC17A4D5}"/>
              </a:ext>
            </a:extLst>
          </p:cNvPr>
          <p:cNvSpPr txBox="1"/>
          <p:nvPr/>
        </p:nvSpPr>
        <p:spPr>
          <a:xfrm>
            <a:off x="2841523" y="2551837"/>
            <a:ext cx="7030065" cy="1754326"/>
          </a:xfrm>
          <a:prstGeom prst="rect">
            <a:avLst/>
          </a:prstGeom>
          <a:noFill/>
        </p:spPr>
        <p:txBody>
          <a:bodyPr wrap="square" rtlCol="0">
            <a:spAutoFit/>
          </a:bodyPr>
          <a:lstStyle/>
          <a:p>
            <a:r>
              <a:rPr lang="en-IN" sz="5400" dirty="0"/>
              <a:t>Comparative Analysis: PCA vs. t-SNE</a:t>
            </a:r>
          </a:p>
        </p:txBody>
      </p:sp>
    </p:spTree>
    <p:extLst>
      <p:ext uri="{BB962C8B-B14F-4D97-AF65-F5344CB8AC3E}">
        <p14:creationId xmlns:p14="http://schemas.microsoft.com/office/powerpoint/2010/main" val="2406571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A571-1536-1A62-61DC-F7FEB35BC127}"/>
              </a:ext>
            </a:extLst>
          </p:cNvPr>
          <p:cNvSpPr>
            <a:spLocks noGrp="1"/>
          </p:cNvSpPr>
          <p:nvPr>
            <p:ph type="title"/>
          </p:nvPr>
        </p:nvSpPr>
        <p:spPr/>
        <p:txBody>
          <a:bodyPr/>
          <a:lstStyle/>
          <a:p>
            <a:r>
              <a:rPr lang="en-IN" noProof="0" dirty="0"/>
              <a:t>On Type and Interpretability of the Axes</a:t>
            </a:r>
          </a:p>
        </p:txBody>
      </p:sp>
      <p:sp>
        <p:nvSpPr>
          <p:cNvPr id="3" name="Text Placeholder 2">
            <a:extLst>
              <a:ext uri="{FF2B5EF4-FFF2-40B4-BE49-F238E27FC236}">
                <a16:creationId xmlns:a16="http://schemas.microsoft.com/office/drawing/2014/main" id="{9B61A5C3-0DBF-06AF-FEBF-1009EC030065}"/>
              </a:ext>
            </a:extLst>
          </p:cNvPr>
          <p:cNvSpPr>
            <a:spLocks noGrp="1"/>
          </p:cNvSpPr>
          <p:nvPr>
            <p:ph type="body" idx="1"/>
          </p:nvPr>
        </p:nvSpPr>
        <p:spPr/>
        <p:txBody>
          <a:bodyPr/>
          <a:lstStyle/>
          <a:p>
            <a:r>
              <a:rPr lang="en-IN" noProof="0" dirty="0"/>
              <a:t>PCA</a:t>
            </a:r>
          </a:p>
        </p:txBody>
      </p:sp>
      <p:sp>
        <p:nvSpPr>
          <p:cNvPr id="4" name="Content Placeholder 3">
            <a:extLst>
              <a:ext uri="{FF2B5EF4-FFF2-40B4-BE49-F238E27FC236}">
                <a16:creationId xmlns:a16="http://schemas.microsoft.com/office/drawing/2014/main" id="{0DEEB09F-E896-FBFF-DD78-5775079D46C3}"/>
              </a:ext>
            </a:extLst>
          </p:cNvPr>
          <p:cNvSpPr>
            <a:spLocks noGrp="1"/>
          </p:cNvSpPr>
          <p:nvPr>
            <p:ph sz="half" idx="2"/>
          </p:nvPr>
        </p:nvSpPr>
        <p:spPr/>
        <p:txBody>
          <a:bodyPr/>
          <a:lstStyle/>
          <a:p>
            <a:r>
              <a:rPr lang="en-IN" noProof="0" dirty="0"/>
              <a:t>In PCA data is treated as rigid objects and rotates the axes along the direction of maximum variance.</a:t>
            </a:r>
          </a:p>
          <a:p>
            <a:r>
              <a:rPr lang="en-IN" noProof="0" dirty="0"/>
              <a:t>It preserves the global structure.</a:t>
            </a:r>
          </a:p>
          <a:p>
            <a:r>
              <a:rPr lang="en-IN" noProof="0" dirty="0"/>
              <a:t>The lower dimensional axes are intuitively interpretable by looking at the weights of the original features.</a:t>
            </a:r>
          </a:p>
        </p:txBody>
      </p:sp>
      <p:sp>
        <p:nvSpPr>
          <p:cNvPr id="5" name="Text Placeholder 4">
            <a:extLst>
              <a:ext uri="{FF2B5EF4-FFF2-40B4-BE49-F238E27FC236}">
                <a16:creationId xmlns:a16="http://schemas.microsoft.com/office/drawing/2014/main" id="{8CF8CC98-030F-9532-1E41-65C03E22E982}"/>
              </a:ext>
            </a:extLst>
          </p:cNvPr>
          <p:cNvSpPr>
            <a:spLocks noGrp="1"/>
          </p:cNvSpPr>
          <p:nvPr>
            <p:ph type="body" sz="quarter" idx="3"/>
          </p:nvPr>
        </p:nvSpPr>
        <p:spPr/>
        <p:txBody>
          <a:bodyPr/>
          <a:lstStyle/>
          <a:p>
            <a:r>
              <a:rPr lang="en-IN" noProof="0" dirty="0"/>
              <a:t>t-SNE</a:t>
            </a:r>
          </a:p>
        </p:txBody>
      </p:sp>
      <p:sp>
        <p:nvSpPr>
          <p:cNvPr id="6" name="Content Placeholder 5">
            <a:extLst>
              <a:ext uri="{FF2B5EF4-FFF2-40B4-BE49-F238E27FC236}">
                <a16:creationId xmlns:a16="http://schemas.microsoft.com/office/drawing/2014/main" id="{E555190B-CF2C-2581-3322-967D06DE9CFB}"/>
              </a:ext>
            </a:extLst>
          </p:cNvPr>
          <p:cNvSpPr>
            <a:spLocks noGrp="1"/>
          </p:cNvSpPr>
          <p:nvPr>
            <p:ph sz="quarter" idx="4"/>
          </p:nvPr>
        </p:nvSpPr>
        <p:spPr/>
        <p:txBody>
          <a:bodyPr/>
          <a:lstStyle/>
          <a:p>
            <a:r>
              <a:rPr lang="en-US" noProof="0" dirty="0"/>
              <a:t>It’s a non- linear probabilistic method that aims at bringing similar data points closer.</a:t>
            </a:r>
          </a:p>
          <a:p>
            <a:r>
              <a:rPr lang="en-US" dirty="0"/>
              <a:t>It preserves the local structure.</a:t>
            </a:r>
          </a:p>
          <a:p>
            <a:r>
              <a:rPr lang="en-US" noProof="0" dirty="0"/>
              <a:t>The lower dimensional axes </a:t>
            </a:r>
            <a:r>
              <a:rPr lang="en-US" dirty="0"/>
              <a:t>don’t carry any inherent meaning.</a:t>
            </a:r>
            <a:endParaRPr lang="en-IN" noProof="0" dirty="0"/>
          </a:p>
        </p:txBody>
      </p:sp>
      <p:sp>
        <p:nvSpPr>
          <p:cNvPr id="10" name="Diagonal Stripe 9">
            <a:extLst>
              <a:ext uri="{FF2B5EF4-FFF2-40B4-BE49-F238E27FC236}">
                <a16:creationId xmlns:a16="http://schemas.microsoft.com/office/drawing/2014/main" id="{5D7A64B5-9A5C-4EFE-A028-2370CA0CBB33}"/>
              </a:ext>
            </a:extLst>
          </p:cNvPr>
          <p:cNvSpPr/>
          <p:nvPr/>
        </p:nvSpPr>
        <p:spPr>
          <a:xfrm rot="10800000">
            <a:off x="6229350" y="4829175"/>
            <a:ext cx="3562350" cy="2028824"/>
          </a:xfrm>
          <a:custGeom>
            <a:avLst/>
            <a:gdLst>
              <a:gd name="connsiteX0" fmla="*/ 0 w 3695700"/>
              <a:gd name="connsiteY0" fmla="*/ 0 h 2028824"/>
              <a:gd name="connsiteX1" fmla="*/ 0 w 3695700"/>
              <a:gd name="connsiteY1" fmla="*/ 0 h 2028824"/>
              <a:gd name="connsiteX2" fmla="*/ 3695700 w 3695700"/>
              <a:gd name="connsiteY2" fmla="*/ 0 h 2028824"/>
              <a:gd name="connsiteX3" fmla="*/ 0 w 3695700"/>
              <a:gd name="connsiteY3" fmla="*/ 2028824 h 2028824"/>
              <a:gd name="connsiteX4" fmla="*/ 0 w 3695700"/>
              <a:gd name="connsiteY4" fmla="*/ 0 h 2028824"/>
              <a:gd name="connsiteX0" fmla="*/ 762000 w 3695700"/>
              <a:gd name="connsiteY0" fmla="*/ 0 h 2028824"/>
              <a:gd name="connsiteX1" fmla="*/ 0 w 3695700"/>
              <a:gd name="connsiteY1" fmla="*/ 0 h 2028824"/>
              <a:gd name="connsiteX2" fmla="*/ 3695700 w 3695700"/>
              <a:gd name="connsiteY2" fmla="*/ 0 h 2028824"/>
              <a:gd name="connsiteX3" fmla="*/ 0 w 3695700"/>
              <a:gd name="connsiteY3" fmla="*/ 2028824 h 2028824"/>
              <a:gd name="connsiteX4" fmla="*/ 762000 w 3695700"/>
              <a:gd name="connsiteY4" fmla="*/ 0 h 2028824"/>
              <a:gd name="connsiteX0" fmla="*/ 633540 w 3695700"/>
              <a:gd name="connsiteY0" fmla="*/ 0 h 2028824"/>
              <a:gd name="connsiteX1" fmla="*/ 0 w 3695700"/>
              <a:gd name="connsiteY1" fmla="*/ 0 h 2028824"/>
              <a:gd name="connsiteX2" fmla="*/ 3695700 w 3695700"/>
              <a:gd name="connsiteY2" fmla="*/ 0 h 2028824"/>
              <a:gd name="connsiteX3" fmla="*/ 0 w 3695700"/>
              <a:gd name="connsiteY3" fmla="*/ 2028824 h 2028824"/>
              <a:gd name="connsiteX4" fmla="*/ 633540 w 3695700"/>
              <a:gd name="connsiteY4" fmla="*/ 0 h 2028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5700" h="2028824">
                <a:moveTo>
                  <a:pt x="633540" y="0"/>
                </a:moveTo>
                <a:lnTo>
                  <a:pt x="0" y="0"/>
                </a:lnTo>
                <a:lnTo>
                  <a:pt x="3695700" y="0"/>
                </a:lnTo>
                <a:lnTo>
                  <a:pt x="0" y="2028824"/>
                </a:lnTo>
                <a:lnTo>
                  <a:pt x="633540" y="0"/>
                </a:lnTo>
                <a:close/>
              </a:path>
            </a:pathLst>
          </a:custGeom>
          <a:gradFill flip="none" rotWithShape="1">
            <a:gsLst>
              <a:gs pos="0">
                <a:schemeClr val="accent2">
                  <a:lumMod val="60000"/>
                  <a:lumOff val="40000"/>
                  <a:alpha val="92000"/>
                </a:schemeClr>
              </a:gs>
              <a:gs pos="51000">
                <a:schemeClr val="accent1">
                  <a:lumMod val="60000"/>
                  <a:lumOff val="40000"/>
                  <a:tint val="44500"/>
                  <a:satMod val="160000"/>
                </a:schemeClr>
              </a:gs>
              <a:gs pos="100000">
                <a:schemeClr val="accent1">
                  <a:lumMod val="60000"/>
                  <a:lumOff val="40000"/>
                  <a:tint val="23500"/>
                  <a:satMod val="16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1075282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157A0-EE1C-3D9A-60A7-2958865F0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C699C-1794-4571-DB1A-62A6A60370CF}"/>
              </a:ext>
            </a:extLst>
          </p:cNvPr>
          <p:cNvSpPr>
            <a:spLocks noGrp="1"/>
          </p:cNvSpPr>
          <p:nvPr>
            <p:ph type="title"/>
          </p:nvPr>
        </p:nvSpPr>
        <p:spPr/>
        <p:txBody>
          <a:bodyPr/>
          <a:lstStyle/>
          <a:p>
            <a:r>
              <a:rPr lang="en-IN" noProof="0" dirty="0"/>
              <a:t>On </a:t>
            </a:r>
            <a:r>
              <a:rPr lang="en-IN" dirty="0"/>
              <a:t>Application</a:t>
            </a:r>
            <a:endParaRPr lang="en-IN" noProof="0" dirty="0"/>
          </a:p>
        </p:txBody>
      </p:sp>
      <p:sp>
        <p:nvSpPr>
          <p:cNvPr id="3" name="Text Placeholder 2">
            <a:extLst>
              <a:ext uri="{FF2B5EF4-FFF2-40B4-BE49-F238E27FC236}">
                <a16:creationId xmlns:a16="http://schemas.microsoft.com/office/drawing/2014/main" id="{B9D978F5-16CA-F8FD-62B1-592DE8628776}"/>
              </a:ext>
            </a:extLst>
          </p:cNvPr>
          <p:cNvSpPr>
            <a:spLocks noGrp="1"/>
          </p:cNvSpPr>
          <p:nvPr>
            <p:ph type="body" idx="1"/>
          </p:nvPr>
        </p:nvSpPr>
        <p:spPr/>
        <p:txBody>
          <a:bodyPr/>
          <a:lstStyle/>
          <a:p>
            <a:r>
              <a:rPr lang="en-IN" noProof="0" dirty="0"/>
              <a:t>PCA</a:t>
            </a:r>
          </a:p>
        </p:txBody>
      </p:sp>
      <p:sp>
        <p:nvSpPr>
          <p:cNvPr id="4" name="Content Placeholder 3">
            <a:extLst>
              <a:ext uri="{FF2B5EF4-FFF2-40B4-BE49-F238E27FC236}">
                <a16:creationId xmlns:a16="http://schemas.microsoft.com/office/drawing/2014/main" id="{95E3F2CA-E1D4-B385-5199-54B31B808425}"/>
              </a:ext>
            </a:extLst>
          </p:cNvPr>
          <p:cNvSpPr>
            <a:spLocks noGrp="1"/>
          </p:cNvSpPr>
          <p:nvPr>
            <p:ph sz="half" idx="2"/>
          </p:nvPr>
        </p:nvSpPr>
        <p:spPr/>
        <p:txBody>
          <a:bodyPr/>
          <a:lstStyle/>
          <a:p>
            <a:r>
              <a:rPr lang="en-IN" noProof="0" dirty="0"/>
              <a:t>PCA is specialized for dimensionality reduction. </a:t>
            </a:r>
            <a:r>
              <a:rPr lang="en-IN" dirty="0"/>
              <a:t>Because it is deterministic linear transformation. Hence, the Principal Components can be used in further modeling.</a:t>
            </a:r>
          </a:p>
          <a:p>
            <a:r>
              <a:rPr lang="en-US" dirty="0"/>
              <a:t>For PCA to be a reliable visual representation, the cumulative EVR of the first two (or three) components should ideally be ≥ 85%.</a:t>
            </a:r>
            <a:endParaRPr lang="en-IN" noProof="0" dirty="0"/>
          </a:p>
        </p:txBody>
      </p:sp>
      <p:sp>
        <p:nvSpPr>
          <p:cNvPr id="5" name="Text Placeholder 4">
            <a:extLst>
              <a:ext uri="{FF2B5EF4-FFF2-40B4-BE49-F238E27FC236}">
                <a16:creationId xmlns:a16="http://schemas.microsoft.com/office/drawing/2014/main" id="{C259DAFB-9C44-712A-5464-36AC5916A5F1}"/>
              </a:ext>
            </a:extLst>
          </p:cNvPr>
          <p:cNvSpPr>
            <a:spLocks noGrp="1"/>
          </p:cNvSpPr>
          <p:nvPr>
            <p:ph type="body" sz="quarter" idx="3"/>
          </p:nvPr>
        </p:nvSpPr>
        <p:spPr/>
        <p:txBody>
          <a:bodyPr/>
          <a:lstStyle/>
          <a:p>
            <a:r>
              <a:rPr lang="en-IN" noProof="0" dirty="0"/>
              <a:t>t-SNE</a:t>
            </a:r>
          </a:p>
        </p:txBody>
      </p:sp>
      <p:sp>
        <p:nvSpPr>
          <p:cNvPr id="6" name="Content Placeholder 5">
            <a:extLst>
              <a:ext uri="{FF2B5EF4-FFF2-40B4-BE49-F238E27FC236}">
                <a16:creationId xmlns:a16="http://schemas.microsoft.com/office/drawing/2014/main" id="{CFD515AD-971B-2E89-B31E-852663F83BDE}"/>
              </a:ext>
            </a:extLst>
          </p:cNvPr>
          <p:cNvSpPr>
            <a:spLocks noGrp="1"/>
          </p:cNvSpPr>
          <p:nvPr>
            <p:ph sz="quarter" idx="4"/>
          </p:nvPr>
        </p:nvSpPr>
        <p:spPr/>
        <p:txBody>
          <a:bodyPr/>
          <a:lstStyle/>
          <a:p>
            <a:r>
              <a:rPr lang="en-US" noProof="0" dirty="0"/>
              <a:t>It’s specialized for visualization as it can visualized underlying groups in the data. Since it’s stochastic, the transformed data can’t be used for further modeling.</a:t>
            </a:r>
          </a:p>
        </p:txBody>
      </p:sp>
      <p:sp>
        <p:nvSpPr>
          <p:cNvPr id="7" name="Diagonal Stripe 9">
            <a:extLst>
              <a:ext uri="{FF2B5EF4-FFF2-40B4-BE49-F238E27FC236}">
                <a16:creationId xmlns:a16="http://schemas.microsoft.com/office/drawing/2014/main" id="{26B575F6-A8F1-4DD3-65B6-D32E20D20B85}"/>
              </a:ext>
            </a:extLst>
          </p:cNvPr>
          <p:cNvSpPr/>
          <p:nvPr/>
        </p:nvSpPr>
        <p:spPr>
          <a:xfrm rot="10800000">
            <a:off x="6229350" y="4829175"/>
            <a:ext cx="3562350" cy="2028824"/>
          </a:xfrm>
          <a:custGeom>
            <a:avLst/>
            <a:gdLst>
              <a:gd name="connsiteX0" fmla="*/ 0 w 3695700"/>
              <a:gd name="connsiteY0" fmla="*/ 0 h 2028824"/>
              <a:gd name="connsiteX1" fmla="*/ 0 w 3695700"/>
              <a:gd name="connsiteY1" fmla="*/ 0 h 2028824"/>
              <a:gd name="connsiteX2" fmla="*/ 3695700 w 3695700"/>
              <a:gd name="connsiteY2" fmla="*/ 0 h 2028824"/>
              <a:gd name="connsiteX3" fmla="*/ 0 w 3695700"/>
              <a:gd name="connsiteY3" fmla="*/ 2028824 h 2028824"/>
              <a:gd name="connsiteX4" fmla="*/ 0 w 3695700"/>
              <a:gd name="connsiteY4" fmla="*/ 0 h 2028824"/>
              <a:gd name="connsiteX0" fmla="*/ 762000 w 3695700"/>
              <a:gd name="connsiteY0" fmla="*/ 0 h 2028824"/>
              <a:gd name="connsiteX1" fmla="*/ 0 w 3695700"/>
              <a:gd name="connsiteY1" fmla="*/ 0 h 2028824"/>
              <a:gd name="connsiteX2" fmla="*/ 3695700 w 3695700"/>
              <a:gd name="connsiteY2" fmla="*/ 0 h 2028824"/>
              <a:gd name="connsiteX3" fmla="*/ 0 w 3695700"/>
              <a:gd name="connsiteY3" fmla="*/ 2028824 h 2028824"/>
              <a:gd name="connsiteX4" fmla="*/ 762000 w 3695700"/>
              <a:gd name="connsiteY4" fmla="*/ 0 h 2028824"/>
              <a:gd name="connsiteX0" fmla="*/ 633540 w 3695700"/>
              <a:gd name="connsiteY0" fmla="*/ 0 h 2028824"/>
              <a:gd name="connsiteX1" fmla="*/ 0 w 3695700"/>
              <a:gd name="connsiteY1" fmla="*/ 0 h 2028824"/>
              <a:gd name="connsiteX2" fmla="*/ 3695700 w 3695700"/>
              <a:gd name="connsiteY2" fmla="*/ 0 h 2028824"/>
              <a:gd name="connsiteX3" fmla="*/ 0 w 3695700"/>
              <a:gd name="connsiteY3" fmla="*/ 2028824 h 2028824"/>
              <a:gd name="connsiteX4" fmla="*/ 633540 w 3695700"/>
              <a:gd name="connsiteY4" fmla="*/ 0 h 2028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5700" h="2028824">
                <a:moveTo>
                  <a:pt x="633540" y="0"/>
                </a:moveTo>
                <a:lnTo>
                  <a:pt x="0" y="0"/>
                </a:lnTo>
                <a:lnTo>
                  <a:pt x="3695700" y="0"/>
                </a:lnTo>
                <a:lnTo>
                  <a:pt x="0" y="2028824"/>
                </a:lnTo>
                <a:lnTo>
                  <a:pt x="633540" y="0"/>
                </a:lnTo>
                <a:close/>
              </a:path>
            </a:pathLst>
          </a:custGeom>
          <a:gradFill flip="none" rotWithShape="1">
            <a:gsLst>
              <a:gs pos="0">
                <a:schemeClr val="accent2">
                  <a:lumMod val="60000"/>
                  <a:lumOff val="40000"/>
                  <a:alpha val="92000"/>
                </a:schemeClr>
              </a:gs>
              <a:gs pos="51000">
                <a:schemeClr val="accent1">
                  <a:lumMod val="60000"/>
                  <a:lumOff val="40000"/>
                  <a:tint val="44500"/>
                  <a:satMod val="160000"/>
                </a:schemeClr>
              </a:gs>
              <a:gs pos="100000">
                <a:schemeClr val="accent1">
                  <a:lumMod val="60000"/>
                  <a:lumOff val="40000"/>
                  <a:tint val="23500"/>
                  <a:satMod val="16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6247970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E8A9A-A998-C96B-1BD5-601AD6D2A6E2}"/>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1DD492F-CA7B-C75E-5262-23803387109E}"/>
              </a:ext>
            </a:extLst>
          </p:cNvPr>
          <p:cNvPicPr>
            <a:picLocks noChangeAspect="1"/>
          </p:cNvPicPr>
          <p:nvPr/>
        </p:nvPicPr>
        <p:blipFill>
          <a:blip r:embed="rId2">
            <a:duotone>
              <a:schemeClr val="accent1">
                <a:shade val="45000"/>
                <a:satMod val="135000"/>
              </a:schemeClr>
              <a:prstClr val="white"/>
            </a:duotone>
            <a:alphaModFix amt="21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r="2336"/>
          <a:stretch>
            <a:fillRect/>
          </a:stretch>
        </p:blipFill>
        <p:spPr>
          <a:xfrm>
            <a:off x="1016000" y="938366"/>
            <a:ext cx="8648700" cy="4981268"/>
          </a:xfrm>
          <a:prstGeom prst="rect">
            <a:avLst/>
          </a:prstGeom>
        </p:spPr>
      </p:pic>
      <p:sp>
        <p:nvSpPr>
          <p:cNvPr id="2" name="TextBox 1">
            <a:extLst>
              <a:ext uri="{FF2B5EF4-FFF2-40B4-BE49-F238E27FC236}">
                <a16:creationId xmlns:a16="http://schemas.microsoft.com/office/drawing/2014/main" id="{EBCEB23D-82A2-A669-759E-209F1ACE2A54}"/>
              </a:ext>
            </a:extLst>
          </p:cNvPr>
          <p:cNvSpPr txBox="1"/>
          <p:nvPr/>
        </p:nvSpPr>
        <p:spPr>
          <a:xfrm>
            <a:off x="2841523" y="2551837"/>
            <a:ext cx="7030065" cy="923330"/>
          </a:xfrm>
          <a:prstGeom prst="rect">
            <a:avLst/>
          </a:prstGeom>
          <a:noFill/>
        </p:spPr>
        <p:txBody>
          <a:bodyPr wrap="square" rtlCol="0">
            <a:spAutoFit/>
          </a:bodyPr>
          <a:lstStyle/>
          <a:p>
            <a:r>
              <a:rPr lang="en-IN" sz="5400" noProof="0" dirty="0"/>
              <a:t>Actionable Insights</a:t>
            </a:r>
            <a:endParaRPr lang="en-IN" sz="5400" noProof="0" dirty="0">
              <a:solidFill>
                <a:schemeClr val="tx2"/>
              </a:solidFill>
            </a:endParaRPr>
          </a:p>
        </p:txBody>
      </p:sp>
    </p:spTree>
    <p:extLst>
      <p:ext uri="{BB962C8B-B14F-4D97-AF65-F5344CB8AC3E}">
        <p14:creationId xmlns:p14="http://schemas.microsoft.com/office/powerpoint/2010/main" val="1587219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63E6-6EC0-B2A7-B831-0005DF2B7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FBA6A-4C90-C988-7060-864D015A7141}"/>
              </a:ext>
            </a:extLst>
          </p:cNvPr>
          <p:cNvSpPr>
            <a:spLocks noGrp="1"/>
          </p:cNvSpPr>
          <p:nvPr>
            <p:ph type="title"/>
          </p:nvPr>
        </p:nvSpPr>
        <p:spPr/>
        <p:txBody>
          <a:bodyPr/>
          <a:lstStyle/>
          <a:p>
            <a:r>
              <a:rPr lang="en-IN" dirty="0"/>
              <a:t>Actionable Insights</a:t>
            </a:r>
          </a:p>
        </p:txBody>
      </p:sp>
      <p:sp>
        <p:nvSpPr>
          <p:cNvPr id="5" name="TextBox 4">
            <a:extLst>
              <a:ext uri="{FF2B5EF4-FFF2-40B4-BE49-F238E27FC236}">
                <a16:creationId xmlns:a16="http://schemas.microsoft.com/office/drawing/2014/main" id="{20D0EE1A-3C1B-246A-525A-58805F9C6172}"/>
              </a:ext>
            </a:extLst>
          </p:cNvPr>
          <p:cNvSpPr txBox="1"/>
          <p:nvPr/>
        </p:nvSpPr>
        <p:spPr>
          <a:xfrm>
            <a:off x="677334" y="1270000"/>
            <a:ext cx="8596668" cy="4832092"/>
          </a:xfrm>
          <a:prstGeom prst="rect">
            <a:avLst/>
          </a:prstGeom>
          <a:noFill/>
        </p:spPr>
        <p:txBody>
          <a:bodyPr wrap="square" rtlCol="0">
            <a:spAutoFit/>
          </a:bodyPr>
          <a:lstStyle/>
          <a:p>
            <a:r>
              <a:rPr lang="en-US" dirty="0"/>
              <a:t>1. Academic Core Cluster (students grouped tightly on PC1‑like strengths)</a:t>
            </a:r>
          </a:p>
          <a:p>
            <a:r>
              <a:rPr lang="en-US" dirty="0"/>
              <a:t>Profile: Strong in math, science, CS, languages, and history.</a:t>
            </a:r>
          </a:p>
          <a:p>
            <a:r>
              <a:rPr lang="en-US" b="1" dirty="0"/>
              <a:t>Actionable Insight:</a:t>
            </a:r>
          </a:p>
          <a:p>
            <a:r>
              <a:rPr lang="en-US" dirty="0"/>
              <a:t>Encourage advanced coursework or enrichment programs (STEM clubs, debate, coding competitions).</a:t>
            </a:r>
          </a:p>
          <a:p>
            <a:r>
              <a:rPr lang="en-US" dirty="0"/>
              <a:t>Provide opportunities for interdisciplinary projects to keep them challenged and engaged.</a:t>
            </a:r>
          </a:p>
          <a:p>
            <a:endParaRPr lang="en-US" sz="2000" dirty="0"/>
          </a:p>
          <a:p>
            <a:r>
              <a:rPr lang="en-US" dirty="0"/>
              <a:t>2. Creative/Physical Cluster (students grouped on band + physed strengths)</a:t>
            </a:r>
          </a:p>
          <a:p>
            <a:r>
              <a:rPr lang="en-US" dirty="0"/>
              <a:t>Profile: High proficiency in music, arts, and physical education, less emphasis on traditional academics.</a:t>
            </a:r>
          </a:p>
          <a:p>
            <a:r>
              <a:rPr lang="en-US" b="1" dirty="0"/>
              <a:t>Actionable Insight:</a:t>
            </a:r>
          </a:p>
          <a:p>
            <a:r>
              <a:rPr lang="en-US" dirty="0"/>
              <a:t>Offer leadership roles in extracurriculars (school band, sports teams).</a:t>
            </a:r>
          </a:p>
          <a:p>
            <a:r>
              <a:rPr lang="en-US" dirty="0"/>
              <a:t>Integrate creative/kinesthetic learning methods into academic subjects to leverage their strengths.</a:t>
            </a:r>
          </a:p>
          <a:p>
            <a:r>
              <a:rPr lang="en-US" dirty="0"/>
              <a:t>Consider pathways in performing arts, athletics, or event management.</a:t>
            </a:r>
          </a:p>
          <a:p>
            <a:endParaRPr lang="en-US" dirty="0"/>
          </a:p>
        </p:txBody>
      </p:sp>
      <p:pic>
        <p:nvPicPr>
          <p:cNvPr id="4" name="Graphic 3" descr="A lightbulb">
            <a:extLst>
              <a:ext uri="{FF2B5EF4-FFF2-40B4-BE49-F238E27FC236}">
                <a16:creationId xmlns:a16="http://schemas.microsoft.com/office/drawing/2014/main" id="{6E2D941F-1E98-27BD-0FBE-473D081711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30044" y="1152014"/>
            <a:ext cx="647290" cy="647290"/>
          </a:xfrm>
          <a:prstGeom prst="rect">
            <a:avLst/>
          </a:prstGeom>
        </p:spPr>
      </p:pic>
      <p:pic>
        <p:nvPicPr>
          <p:cNvPr id="26" name="Graphic 25" descr="A lightbulb">
            <a:extLst>
              <a:ext uri="{FF2B5EF4-FFF2-40B4-BE49-F238E27FC236}">
                <a16:creationId xmlns:a16="http://schemas.microsoft.com/office/drawing/2014/main" id="{AC404DA0-5DC4-056C-BC79-9E7FD5F320A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30044" y="3362401"/>
            <a:ext cx="647290" cy="647290"/>
          </a:xfrm>
          <a:prstGeom prst="rect">
            <a:avLst/>
          </a:prstGeom>
        </p:spPr>
      </p:pic>
    </p:spTree>
    <p:extLst>
      <p:ext uri="{BB962C8B-B14F-4D97-AF65-F5344CB8AC3E}">
        <p14:creationId xmlns:p14="http://schemas.microsoft.com/office/powerpoint/2010/main" val="3702033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079DF-9F0F-AB0A-D785-A3FD1B10D341}"/>
              </a:ext>
            </a:extLst>
          </p:cNvPr>
          <p:cNvSpPr>
            <a:spLocks noGrp="1"/>
          </p:cNvSpPr>
          <p:nvPr>
            <p:ph type="title"/>
          </p:nvPr>
        </p:nvSpPr>
        <p:spPr/>
        <p:txBody>
          <a:bodyPr/>
          <a:lstStyle/>
          <a:p>
            <a:r>
              <a:rPr lang="en-IN" dirty="0"/>
              <a:t>Actionable Insights</a:t>
            </a:r>
          </a:p>
        </p:txBody>
      </p:sp>
      <p:sp>
        <p:nvSpPr>
          <p:cNvPr id="5" name="TextBox 4">
            <a:extLst>
              <a:ext uri="{FF2B5EF4-FFF2-40B4-BE49-F238E27FC236}">
                <a16:creationId xmlns:a16="http://schemas.microsoft.com/office/drawing/2014/main" id="{7B07EAD2-C18B-65F6-B9B3-EE2086FC85CD}"/>
              </a:ext>
            </a:extLst>
          </p:cNvPr>
          <p:cNvSpPr txBox="1"/>
          <p:nvPr/>
        </p:nvSpPr>
        <p:spPr>
          <a:xfrm>
            <a:off x="677334" y="1270000"/>
            <a:ext cx="8441266" cy="4647426"/>
          </a:xfrm>
          <a:prstGeom prst="rect">
            <a:avLst/>
          </a:prstGeom>
          <a:noFill/>
        </p:spPr>
        <p:txBody>
          <a:bodyPr wrap="square" rtlCol="0">
            <a:spAutoFit/>
          </a:bodyPr>
          <a:lstStyle/>
          <a:p>
            <a:r>
              <a:rPr lang="en-US" dirty="0"/>
              <a:t>3. Balanced Cluster (students scoring nicely across both dimensions)</a:t>
            </a:r>
          </a:p>
          <a:p>
            <a:r>
              <a:rPr lang="en-US" dirty="0"/>
              <a:t>Profile: Competent in both academics and creative/physical domains.</a:t>
            </a:r>
          </a:p>
          <a:p>
            <a:r>
              <a:rPr lang="en-US" b="1" dirty="0"/>
              <a:t>Actionable Insight:</a:t>
            </a:r>
          </a:p>
          <a:p>
            <a:r>
              <a:rPr lang="en-US" dirty="0"/>
              <a:t>Encourage exploration — these students may benefit from exposure to diverse subjects before specialization.</a:t>
            </a:r>
          </a:p>
          <a:p>
            <a:r>
              <a:rPr lang="en-US" dirty="0"/>
              <a:t>Provide mentorship to help them identify areas of passion and potential career direction.</a:t>
            </a:r>
          </a:p>
          <a:p>
            <a:endParaRPr lang="en-IN" sz="2800" dirty="0"/>
          </a:p>
          <a:p>
            <a:r>
              <a:rPr lang="en-US" dirty="0"/>
              <a:t>4. Lower‑Performance Cluster (students with low scores across both components)</a:t>
            </a:r>
          </a:p>
          <a:p>
            <a:r>
              <a:rPr lang="en-US" dirty="0"/>
              <a:t>Profile: Struggling in both traditional academics and creative/physical subjects.</a:t>
            </a:r>
          </a:p>
          <a:p>
            <a:r>
              <a:rPr lang="en-US" b="1" dirty="0"/>
              <a:t>Actionable Insight:</a:t>
            </a:r>
          </a:p>
          <a:p>
            <a:r>
              <a:rPr lang="en-US" dirty="0"/>
              <a:t>Identify underlying challenges (study habits, motivation, external factors).</a:t>
            </a:r>
          </a:p>
          <a:p>
            <a:r>
              <a:rPr lang="en-US" dirty="0"/>
              <a:t>Provide targeted support: tutoring, counseling, or personalized learning plans.</a:t>
            </a:r>
          </a:p>
          <a:p>
            <a:r>
              <a:rPr lang="en-US" dirty="0"/>
              <a:t>Focus on building confidence through small, achievable goals.</a:t>
            </a:r>
          </a:p>
          <a:p>
            <a:endParaRPr lang="en-IN" sz="1600" dirty="0"/>
          </a:p>
        </p:txBody>
      </p:sp>
      <p:pic>
        <p:nvPicPr>
          <p:cNvPr id="4" name="Graphic 3" descr="A lightbulb">
            <a:extLst>
              <a:ext uri="{FF2B5EF4-FFF2-40B4-BE49-F238E27FC236}">
                <a16:creationId xmlns:a16="http://schemas.microsoft.com/office/drawing/2014/main" id="{DC556863-C524-A2D1-4C94-473E71D3184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30044" y="1152014"/>
            <a:ext cx="647290" cy="647290"/>
          </a:xfrm>
          <a:prstGeom prst="rect">
            <a:avLst/>
          </a:prstGeom>
        </p:spPr>
      </p:pic>
      <p:pic>
        <p:nvPicPr>
          <p:cNvPr id="27" name="Graphic 26" descr="A lightbulb">
            <a:extLst>
              <a:ext uri="{FF2B5EF4-FFF2-40B4-BE49-F238E27FC236}">
                <a16:creationId xmlns:a16="http://schemas.microsoft.com/office/drawing/2014/main" id="{FB45EDD1-87BC-D2CA-B5FA-F6549C935E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flipV="1">
            <a:off x="30044" y="3534720"/>
            <a:ext cx="647290" cy="647290"/>
          </a:xfrm>
          <a:prstGeom prst="rect">
            <a:avLst/>
          </a:prstGeom>
        </p:spPr>
      </p:pic>
    </p:spTree>
    <p:extLst>
      <p:ext uri="{BB962C8B-B14F-4D97-AF65-F5344CB8AC3E}">
        <p14:creationId xmlns:p14="http://schemas.microsoft.com/office/powerpoint/2010/main" val="2132934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52616E-E066-4AC0-9976-47BF58227491}"/>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40492" y="544324"/>
            <a:ext cx="9334348" cy="5604387"/>
          </a:xfrm>
          <a:prstGeom prst="rect">
            <a:avLst/>
          </a:prstGeom>
        </p:spPr>
      </p:pic>
      <p:sp>
        <p:nvSpPr>
          <p:cNvPr id="2" name="TextBox 1">
            <a:extLst>
              <a:ext uri="{FF2B5EF4-FFF2-40B4-BE49-F238E27FC236}">
                <a16:creationId xmlns:a16="http://schemas.microsoft.com/office/drawing/2014/main" id="{0BD06992-DB67-36E0-F150-59272307A036}"/>
              </a:ext>
            </a:extLst>
          </p:cNvPr>
          <p:cNvSpPr txBox="1"/>
          <p:nvPr/>
        </p:nvSpPr>
        <p:spPr>
          <a:xfrm>
            <a:off x="2561289" y="4117295"/>
            <a:ext cx="5973098" cy="646331"/>
          </a:xfrm>
          <a:prstGeom prst="rect">
            <a:avLst/>
          </a:prstGeom>
          <a:noFill/>
        </p:spPr>
        <p:txBody>
          <a:bodyPr wrap="square" rtlCol="0">
            <a:spAutoFit/>
          </a:bodyPr>
          <a:lstStyle/>
          <a:p>
            <a:pPr algn="ctr"/>
            <a:r>
              <a:rPr lang="en-US" sz="3600" dirty="0">
                <a:solidFill>
                  <a:schemeClr val="accent2">
                    <a:lumMod val="75000"/>
                  </a:schemeClr>
                </a:solidFill>
                <a:latin typeface="Freestyle Script" panose="030804020302050B0404" pitchFamily="66" charset="0"/>
              </a:rPr>
              <a:t>For your attention</a:t>
            </a:r>
            <a:endParaRPr lang="en-IN" sz="3600" dirty="0">
              <a:solidFill>
                <a:schemeClr val="accent2">
                  <a:lumMod val="75000"/>
                </a:schemeClr>
              </a:solidFill>
              <a:latin typeface="Freestyle Script" panose="030804020302050B0404" pitchFamily="66" charset="0"/>
            </a:endParaRPr>
          </a:p>
        </p:txBody>
      </p:sp>
    </p:spTree>
    <p:extLst>
      <p:ext uri="{BB962C8B-B14F-4D97-AF65-F5344CB8AC3E}">
        <p14:creationId xmlns:p14="http://schemas.microsoft.com/office/powerpoint/2010/main" val="19906672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1125</TotalTime>
  <Words>1663</Words>
  <Application>Microsoft Office PowerPoint</Application>
  <PresentationFormat>Widescreen</PresentationFormat>
  <Paragraphs>122</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Baskerville Old Face</vt:lpstr>
      <vt:lpstr>Freestyle Script</vt:lpstr>
      <vt:lpstr>Google Sans Text</vt:lpstr>
      <vt:lpstr>Trebuchet MS</vt:lpstr>
      <vt:lpstr>Wingdings 3</vt:lpstr>
      <vt:lpstr>Facet</vt:lpstr>
      <vt:lpstr>Project on Dimensionality Reduction</vt:lpstr>
      <vt:lpstr>Presentation Structure</vt:lpstr>
      <vt:lpstr>Overview</vt:lpstr>
      <vt:lpstr>Introduction to Dataset</vt:lpstr>
      <vt:lpstr>Data Cleaning &amp; Preprocessing</vt:lpstr>
      <vt:lpstr>PowerPoint Presentation</vt:lpstr>
      <vt:lpstr>PowerPoint Presentation</vt:lpstr>
      <vt:lpstr>PowerPoint Presentation</vt:lpstr>
      <vt:lpstr>PowerPoint Presentation</vt:lpstr>
      <vt:lpstr>PowerPoint Presentation</vt:lpstr>
      <vt:lpstr>Insights from Scree Plot</vt:lpstr>
      <vt:lpstr>Interpretation of Principal Components</vt:lpstr>
      <vt:lpstr>Findings from Scatter Plot</vt:lpstr>
      <vt:lpstr>PowerPoint Presentation</vt:lpstr>
      <vt:lpstr>Insights from Scatter Plot</vt:lpstr>
      <vt:lpstr>PowerPoint Presentation</vt:lpstr>
      <vt:lpstr>On Type and Interpretability of the Axes</vt:lpstr>
      <vt:lpstr>On Application</vt:lpstr>
      <vt:lpstr>PowerPoint Presentation</vt:lpstr>
      <vt:lpstr>Actionable Insights</vt:lpstr>
      <vt:lpstr>Actionable Insights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Prithujit Ghosh</dc:creator>
  <cp:lastModifiedBy>Mrinmoy Das</cp:lastModifiedBy>
  <cp:revision>4</cp:revision>
  <dcterms:created xsi:type="dcterms:W3CDTF">2026-03-29T11:24:02Z</dcterms:created>
  <dcterms:modified xsi:type="dcterms:W3CDTF">2026-04-02T16:10:11Z</dcterms:modified>
</cp:coreProperties>
</file>